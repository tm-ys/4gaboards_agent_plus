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大家好。今天我来汇报我们的课程项目——基于大模型的智能测试工具：4gaboard_agent_plus。</a:t>
            </a:r>
          </a:p>
          <a:p>
            <a:r>
              <a:rPr lang="zh-CN" dirty="0"/>
              <a:t>这是一个从用户手册到自动测试执行的全闭环 LLM 驱动测试系统。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Web Agent 在复杂 Web 应用测试中失败率高，问题集中在三点：业务逻辑高度领域化、大模型存在幻觉缺乏应用知识、难以准确判定任务成功（Test Oracle 问题）。</a:t>
            </a:r>
          </a:p>
          <a:p>
            <a:r>
              <a:rPr lang="zh-CN" dirty="0"/>
              <a:t>我们的思路是：利用用户手册中蕴含的业务知识，让 LLM 自动提取功能点生成测试场景，再由 ReAct 智能体在浏览器中自主执行并判定结果。</a:t>
            </a:r>
          </a:p>
          <a:p>
            <a:r>
              <a:rPr lang="zh-CN" dirty="0"/>
              <a:t>目标应用是 4gaBoards——一个开源看板 Web 应用，我们对它线上的 demo 站进行端到端测试。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三阶段闭环：用户手册 → 任务一场景生成 → 任务二 ReAct Agent 执行 → 判官验证 → PASS/FAIL → 变异测试评估判官。</a:t>
            </a:r>
          </a:p>
          <a:p>
            <a:r>
              <a:rPr lang="zh-CN" dirty="0"/>
              <a:t>关键技术决策：长上下文直填而非 RAG、零框架 LLM 调用（去 LangChain 化）、ReAct 循环架构动态适应 UI、独立判官+变异测试量化判官质量、TypeScript 原生实现、docs→tools 桥、国产 DeepSeek、全自研交付。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任务一的核心成果：118 个功能点、179 个测试场景、100% 功能覆盖率。</a:t>
            </a:r>
          </a:p>
          <a:p>
            <a:r>
              <a:rPr lang="zh-CN" dirty="0"/>
              <a:t>采用长上下文直填策略——DeepSeek 有 1M 上下文窗口，直接把整段文档送入 LLM，消除了 RAG 带来的语义近似噪声和 ChromaDB 运维负担。</a:t>
            </a:r>
          </a:p>
          <a:p>
            <a:r>
              <a:rPr lang="zh-CN" dirty="0"/>
              <a:t>场景格式为 [[step]+ [expectation]?]+，每个 step 是具体 UI 操作，expectation 包含可观察的 key_features。</a:t>
            </a:r>
          </a:p>
          <a:p>
            <a:r>
              <a:rPr lang="zh-CN" dirty="0"/>
              <a:t>与原版相比，场景数从 65 跃升至 179，覆盖率 100%。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ReAct 循环模型：观察 → 思考（选工具） → 执行 → 观察... 直到 done 或步数上限 20。</a:t>
            </a:r>
          </a:p>
          <a:p>
            <a:r>
              <a:rPr lang="zh-CN" dirty="0"/>
              <a:t>四大支柱：Planning（场景 phases 作骨架+step 指针）、Memory（短期轨迹 + scratchpad）、Execution（Playwright 工具执行器）、Verification（独立 LLM 判官）。</a:t>
            </a:r>
          </a:p>
          <a:p>
            <a:r>
              <a:rPr lang="zh-CN" dirty="0"/>
              <a:t>观察空间使用 AX 树文本+ref，模型无关，不依赖 VLM。</a:t>
            </a:r>
          </a:p>
          <a:p>
            <a:r>
              <a:rPr lang="zh-CN" dirty="0"/>
              <a:t>两条底线：被测动作必须走真实 UI 不走后端 API；验证看真实渲染页不只信"成功"返回值。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两层工具设计：A 层 20 个领域工具照 4gaBoardsDocs 写，每个对应一项文档能力，驱动真实 UI；B 层 7 个通用浏览器工具兜底。</a:t>
            </a:r>
          </a:p>
          <a:p>
            <a:r>
              <a:rPr lang="zh-CN" dirty="0"/>
              <a:t>领域工具覆盖 auth/board/card/view/settings/list 等全部模块，包括 card_drag 拖拽、card_manage_labels 标签管理、card_text_editor 富文本等复杂操作。</a:t>
            </a:r>
          </a:p>
          <a:p>
            <a:r>
              <a:rPr lang="zh-CN" dirty="0"/>
              <a:t>创新点 docs→tools 桥：任务一的 118 个功能点=工具清单，自动脚手架工具 stub，Task1→Task2 干净闭环。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独立判官只看到事实 transcript（动作+结果+观察+终态），不含 Agent 思考/自评，避免执行者自我合理化。</a:t>
            </a:r>
          </a:p>
          <a:p>
            <a:r>
              <a:rPr lang="zh-CN" dirty="0"/>
              <a:t>双档严格性：lenient 默认档抓实质不死抠字面；strict 档逐条核对 key_features+终态优先。</a:t>
            </a:r>
          </a:p>
          <a:p>
            <a:r>
              <a:rPr lang="zh-CN" dirty="0"/>
              <a:t>变异测试给判官打分：Layer1 改 expectation 后发现判官无视规格靠核心目标推断（lenient Must-Kill 0%）；Layer2 往轨迹注入故障得 Mutation Score 33%（薄证据 100%，富证据 0%——判官多源证据和解）。</a:t>
            </a:r>
          </a:p>
          <a:p>
            <a:r>
              <a:rPr lang="zh-CN" dirty="0"/>
              <a:t>宽松代价：真实 PASS 率 lenient 46% vs strict 25%，strict 误杀 7 个真实通过 -21pp。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原版用 Python+LangChain，plus 版完全 TypeScript 原生，去 LangChain 化消除抽象泄漏。</a:t>
            </a:r>
          </a:p>
          <a:p>
            <a:r>
              <a:rPr lang="zh-CN" dirty="0"/>
              <a:t>检索策略从 RAG+ChromaDB+Embedding 改为长上下文直填。</a:t>
            </a:r>
          </a:p>
          <a:p>
            <a:r>
              <a:rPr lang="zh-CN" dirty="0"/>
              <a:t>Agent 模型从 Planner→Executor 线性管道改为 ReAct 循环，对 UI 多变性适应性更强。</a:t>
            </a:r>
          </a:p>
          <a:p>
            <a:r>
              <a:rPr lang="zh-CN" dirty="0"/>
              <a:t>观察空间从 Playwright page state 升级为 AX tree 结构化 ref。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工具从 9 个底层 DOM 操作升级为 27 个工具（7 通用+20 领域），选工具效率 5-10x。</a:t>
            </a:r>
          </a:p>
          <a:p>
            <a:r>
              <a:rPr lang="zh-CN" dirty="0"/>
              <a:t>判官从规则+LLM 串联升级为独立双档判官。</a:t>
            </a:r>
          </a:p>
          <a:p>
            <a:r>
              <a:rPr lang="zh-CN" dirty="0"/>
              <a:t>新增变异测试、命名空间状态隔离、轨迹复用模型。</a:t>
            </a:r>
          </a:p>
          <a:p>
            <a:r>
              <a:rPr lang="zh-CN" dirty="0"/>
              <a:t>前端从 FastAPI+Jinja2 升级为 Vite+React+SSE 实时看板。</a:t>
            </a:r>
          </a:p>
          <a:p>
            <a:r>
              <a:rPr lang="zh-CN" dirty="0"/>
              <a:t>总结：从"能跑"到"能评"的质变。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任务一：118 功能点/179 场景/100% 覆盖。</a:t>
            </a:r>
          </a:p>
          <a:p>
            <a:r>
              <a:rPr lang="zh-CN" dirty="0"/>
              <a:t>任务二：基线 43%、可测场景 ~80%、Settings 簇 84%。</a:t>
            </a:r>
          </a:p>
          <a:p>
            <a:r>
              <a:rPr lang="zh-CN" dirty="0"/>
              <a:t>变异测试 Layer2 Mutation Score 33%，Layer1 Must-Kill 0%→38%。</a:t>
            </a:r>
          </a:p>
          <a:p>
            <a:r>
              <a:rPr lang="zh-CN" dirty="0"/>
              <a:t>双档判官对比 lenient 46% vs strict 25%，严格性代价 -21pp。</a:t>
            </a:r>
          </a:p>
          <a:p>
            <a:r>
              <a:rPr lang="zh-CN" dirty="0"/>
              <a:t>领域工具 20 个，源代码 ~80+ 文件，判官 2 档。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四个核心创新：</a:t>
            </a:r>
          </a:p>
          <a:p>
            <a:r>
              <a:rPr lang="zh-CN" dirty="0"/>
              <a:t>1. docs→tools 桥：生成端到执行端的干净闭环</a:t>
            </a:r>
          </a:p>
          <a:p>
            <a:r>
              <a:rPr lang="zh-CN" dirty="0"/>
              <a:t>2. 独立判官+变异测试评估 oracle：把判官从黑盒变可测</a:t>
            </a:r>
          </a:p>
          <a:p>
            <a:r>
              <a:rPr lang="zh-CN" dirty="0"/>
              <a:t>3. 双档判官量化宽松代价：lenient vs strict trade-off 三角</a:t>
            </a:r>
          </a:p>
          <a:p>
            <a:r>
              <a:rPr lang="zh-CN" dirty="0"/>
              <a:t>4. 复用轨迹模型：1 次真跑+N 次重判，省浏览器开销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核心成果回顾：全自动测试闭环、可量化评估。</a:t>
            </a:r>
          </a:p>
          <a:p>
            <a:r>
              <a:rPr lang="zh-CN" dirty="0"/>
              <a:t>当前不足：Instance 簇环境限制、strict 判官 negate 类弱点、富证据场景变异检出率低。</a:t>
            </a:r>
          </a:p>
          <a:p>
            <a:r>
              <a:rPr lang="zh-CN" dirty="0"/>
              <a:t>未来工作：规则双通道、前置契约化、前端交互增强、negate 加固。</a:t>
            </a:r>
          </a:p>
          <a:p>
            <a:r>
              <a:rPr lang="zh-CN" dirty="0"/>
              <a:t>我们的项目从 4gaboard_agent（原型）演进到 4gaboard_agent_plus（完整交付），实现了从"能跑"到"能评"的质变。</a:t>
            </a:r>
          </a:p>
          <a:p>
            <a:r>
              <a:rPr lang="zh-CN" dirty="0"/>
              <a:t>感谢各位！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5F">
                  <a:alpha val="40000"/>
                </a:srgbClr>
              </a:gs>
              <a:gs pos="100000">
                <a:srgbClr val="0D1B2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71500" y="11430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gradFill>
              <a:gsLst>
                <a:gs pos="0">
                  <a:srgbClr val="3B82F6"/>
                </a:gs>
                <a:gs pos="100000">
                  <a:srgbClr val="6366F1"/>
                </a:gs>
              </a:gsLst>
              <a:lin ang="0" scaled="1"/>
            </a:gradFill>
          </a:ln>
        </p:spPr>
      </p:sp>
      <p:sp>
        <p:nvSpPr>
          <p:cNvPr id="5" name="Line 5"/>
          <p:cNvSpPr/>
          <p:nvPr/>
        </p:nvSpPr>
        <p:spPr>
          <a:xfrm>
            <a:off x="571500" y="5715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2770060" y="2055495"/>
            <a:ext cx="665187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基于大模型的智能测试工具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33669" y="2947035"/>
            <a:ext cx="392466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b="1" dirty="0">
                <a:gradFill>
                  <a:gsLst>
                    <a:gs pos="0">
                      <a:srgbClr val="3B82F6"/>
                    </a:gs>
                    <a:gs pos="100000">
                      <a:srgbClr val="6366F1"/>
                    </a:gs>
                  </a:gsLst>
                  <a:lin ang="0" scaled="1"/>
                </a:gradFill>
                <a:latin typeface="Arial"/>
                <a:ea typeface="Arial"/>
                <a:cs typeface="Arial"/>
              </a:rPr>
              <a:t>4gaboard_agent_plus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58102" y="3664268"/>
            <a:ext cx="40757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从用户手册到自动测试执行的全闭环 LLM 驱动测试</a:t>
            </a:r>
          </a:p>
        </p:txBody>
      </p:sp>
      <p:sp>
        <p:nvSpPr>
          <p:cNvPr id="9" name="Rectangle 9"/>
          <p:cNvSpPr/>
          <p:nvPr/>
        </p:nvSpPr>
        <p:spPr>
          <a:xfrm>
            <a:off x="4667250" y="4191000"/>
            <a:ext cx="2857500" cy="3429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93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734997" y="4306252"/>
            <a:ext cx="27220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用户手册 → 测试场景 → ReAct Agent → 判官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8165" y="5220652"/>
            <a:ext cx="1867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课程项目 · 现代软件开发方法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8165" y="5411152"/>
            <a:ext cx="24979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目标应用 · 4gaBoards (开源看板 Web)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0070" y="599884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2026.06 · 答辩演示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572500" y="457200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3B82F6">
              <a:alpha val="60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8763000" y="457200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6366F1">
              <a:alpha val="4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8953500" y="4572000"/>
            <a:ext cx="57150" cy="152400"/>
          </a:xfrm>
          <a:prstGeom prst="roundRect">
            <a:avLst>
              <a:gd name="adj" fmla="val 50000"/>
            </a:avLst>
          </a:prstGeom>
          <a:solidFill>
            <a:srgbClr val="F59E0B">
              <a:alpha val="30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2070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8572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gradFill>
              <a:gsLst>
                <a:gs pos="0">
                  <a:srgbClr val="3B82F6"/>
                </a:gs>
                <a:gs pos="100000">
                  <a:srgbClr val="6366F1"/>
                </a:gs>
              </a:gsLst>
              <a:lin ang="0" scaled="1"/>
            </a:gradFill>
          </a:ln>
        </p:spPr>
      </p:sp>
      <p:sp>
        <p:nvSpPr>
          <p:cNvPr id="4" name="TextBox 4"/>
          <p:cNvSpPr txBox="1"/>
          <p:nvPr/>
        </p:nvSpPr>
        <p:spPr>
          <a:xfrm>
            <a:off x="537210" y="422910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项目背景与目标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07020" y="379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02 / 12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571500" y="1238250"/>
            <a:ext cx="5334000" cy="2190750"/>
            <a:chOff x="571500" y="1238250"/>
            <a:chExt cx="5334000" cy="21907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2190750"/>
            </a:xfrm>
            <a:prstGeom prst="roundRect">
              <a:avLst>
                <a:gd name="adj" fmla="val 3478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575" y="1409700"/>
              <a:ext cx="43751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问题：Web Agent 在复杂 Web 测试中失败率高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71525" y="1819275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8212" y="1783556"/>
              <a:ext cx="24513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Web 应用业务逻辑复杂且高度领域化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1525" y="215265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8212" y="2116931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大模型存在幻觉，缺乏待测应用领域知识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1525" y="2486025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8212" y="2450306"/>
              <a:ext cx="30364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难以准确判定任务成功（Test Oracle 问题）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1525" y="2819400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8212" y="2783681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人工编写测试场景成本高、覆盖率有限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86500" y="1238250"/>
            <a:ext cx="5334000" cy="2190750"/>
            <a:chOff x="6286500" y="1238250"/>
            <a:chExt cx="53340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6286500" y="1238250"/>
              <a:ext cx="5334000" cy="2190750"/>
            </a:xfrm>
            <a:prstGeom prst="roundRect">
              <a:avLst>
                <a:gd name="adj" fmla="val 3478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05575" y="1409700"/>
              <a:ext cx="40916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思路：利用用户手册 + LLM 自动化测试闭环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486525" y="1819275"/>
              <a:ext cx="76200" cy="76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3212" y="1783556"/>
              <a:ext cx="33289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从用户手册自动提取功能点，生成结构化测试场景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486525" y="2152650"/>
              <a:ext cx="76200" cy="76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53212" y="2116931"/>
              <a:ext cx="31864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ReAct 智能体自主执行场景，浏览器自动化测试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486525" y="2486025"/>
              <a:ext cx="76200" cy="76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53212" y="2450306"/>
              <a:ext cx="27964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独立 LLM 判官验证结果，双档严格性量化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86525" y="2819400"/>
              <a:ext cx="76200" cy="76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3212" y="2783681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变异测试评估判官质量，形成质量闭环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3619500"/>
            <a:ext cx="11049000" cy="1143000"/>
            <a:chOff x="571500" y="3619500"/>
            <a:chExt cx="11049000" cy="1143000"/>
          </a:xfrm>
        </p:grpSpPr>
        <p:sp>
          <p:nvSpPr>
            <p:cNvPr id="29" name="Rectangle 29"/>
            <p:cNvSpPr/>
            <p:nvPr/>
          </p:nvSpPr>
          <p:spPr>
            <a:xfrm>
              <a:off x="571500" y="3619500"/>
              <a:ext cx="11049000" cy="1143000"/>
            </a:xfrm>
            <a:prstGeom prst="roundRect">
              <a:avLst>
                <a:gd name="adj" fmla="val 6667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0575" y="3790950"/>
              <a:ext cx="21278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目标应用：4gaBoards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5338" y="4164806"/>
              <a:ext cx="65018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开源看板 Web 应用 (类似 Trello) · 对 demo.4gaboards.com 线上站端到端测试 · 无需本地部署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9625" y="4429125"/>
              <a:ext cx="1524000" cy="228600"/>
            </a:xfrm>
            <a:prstGeom prst="roundRect">
              <a:avLst>
                <a:gd name="adj" fmla="val 16667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08126" y="4493895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Consolas"/>
                  <a:ea typeface="Consolas"/>
                  <a:cs typeface="Consolas"/>
                </a:rPr>
                <a:t>Board / List / Card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76500" y="4429125"/>
              <a:ext cx="1143000" cy="228600"/>
            </a:xfrm>
            <a:prstGeom prst="roundRect">
              <a:avLst>
                <a:gd name="adj" fmla="val 16667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622518" y="44938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Consolas"/>
                  <a:ea typeface="Consolas"/>
                  <a:cs typeface="Consolas"/>
                </a:rPr>
                <a:t>View / Sidebar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762375" y="4429125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978164" y="4493895"/>
              <a:ext cx="520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Consolas"/>
                  <a:ea typeface="Consolas"/>
                  <a:cs typeface="Consolas"/>
                </a:rPr>
                <a:t>Settings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857750" y="4429125"/>
              <a:ext cx="1143000" cy="228600"/>
            </a:xfrm>
            <a:prstGeom prst="roundRect">
              <a:avLst>
                <a:gd name="adj" fmla="val 16667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033772" y="4493895"/>
              <a:ext cx="7909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Consolas"/>
                  <a:ea typeface="Consolas"/>
                  <a:cs typeface="Consolas"/>
                </a:rPr>
                <a:t>Notifications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71500" y="4953000"/>
            <a:ext cx="11511153" cy="895350"/>
            <a:chOff x="571500" y="4953000"/>
            <a:chExt cx="11511153" cy="895350"/>
          </a:xfrm>
        </p:grpSpPr>
        <p:sp>
          <p:nvSpPr>
            <p:cNvPr id="41" name="Rectangle 41"/>
            <p:cNvSpPr/>
            <p:nvPr/>
          </p:nvSpPr>
          <p:spPr>
            <a:xfrm>
              <a:off x="571500" y="4953000"/>
              <a:ext cx="3505200" cy="857250"/>
            </a:xfrm>
            <a:prstGeom prst="roundRect">
              <a:avLst>
                <a:gd name="adj" fmla="val 8889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051685" y="518112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文档页数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08797" y="5360670"/>
              <a:ext cx="4306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gradFill>
                    <a:gsLst>
                      <a:gs pos="0">
                        <a:srgbClr val="F59E0B"/>
                      </a:gs>
                      <a:gs pos="100000">
                        <a:srgbClr val="D97706"/>
                      </a:gs>
                    </a:gsLst>
                    <a:lin ang="2700000" scaled="1"/>
                  </a:gradFill>
                  <a:latin typeface="Arial"/>
                  <a:ea typeface="Arial"/>
                  <a:cs typeface="Arial"/>
                </a:rPr>
                <a:t>19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343400" y="4953000"/>
              <a:ext cx="3505200" cy="857250"/>
            </a:xfrm>
            <a:prstGeom prst="roundRect">
              <a:avLst>
                <a:gd name="adj" fmla="val 8889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111746" y="5181124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核心代码量 (TypeScript 主交付)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41404" y="5360670"/>
              <a:ext cx="190919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gradFill>
                    <a:gsLst>
                      <a:gs pos="0">
                        <a:srgbClr val="F59E0B"/>
                      </a:gs>
                      <a:gs pos="100000">
                        <a:srgbClr val="D97706"/>
                      </a:gs>
                    </a:gsLst>
                    <a:lin ang="2700000" scaled="1"/>
                  </a:gradFill>
                  <a:latin typeface="Arial"/>
                  <a:ea typeface="Microsoft YaHei"/>
                  <a:cs typeface="Arial"/>
                </a:rPr>
                <a:t>~80+ 源文件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115300" y="4953000"/>
              <a:ext cx="3505200" cy="857250"/>
            </a:xfrm>
            <a:prstGeom prst="roundRect">
              <a:avLst>
                <a:gd name="adj" fmla="val 8889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660493" y="5181124"/>
              <a:ext cx="414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技术栈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53147" y="5360670"/>
              <a:ext cx="44295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gradFill>
                    <a:gsLst>
                      <a:gs pos="0">
                        <a:srgbClr val="F59E0B"/>
                      </a:gs>
                      <a:gs pos="100000">
                        <a:srgbClr val="D97706"/>
                      </a:gs>
                    </a:gsLst>
                    <a:lin ang="2700000" scaled="1"/>
                  </a:gradFill>
                  <a:latin typeface="Arial"/>
                  <a:ea typeface="Arial"/>
                  <a:cs typeface="Arial"/>
                </a:rPr>
                <a:t>TS + DeepSeek + Playwright</a:t>
              </a:r>
            </a:p>
          </p:txBody>
        </p:sp>
      </p:grpSp>
      <p:sp>
        <p:nvSpPr>
          <p:cNvPr id="51" name="Line 51"/>
          <p:cNvSpPr/>
          <p:nvPr/>
        </p:nvSpPr>
        <p:spPr>
          <a:xfrm>
            <a:off x="571500" y="600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61022" y="6102191"/>
            <a:ext cx="19296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4gaboard_agent_plus · 课程项目答辩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8572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gradFill>
              <a:gsLst>
                <a:gs pos="0">
                  <a:srgbClr val="3B82F6"/>
                </a:gs>
                <a:gs pos="100000">
                  <a:srgbClr val="6366F1"/>
                </a:gs>
              </a:gsLst>
              <a:lin ang="0" scaled="1"/>
            </a:gradFill>
          </a:ln>
        </p:spPr>
      </p:sp>
      <p:sp>
        <p:nvSpPr>
          <p:cNvPr id="4" name="TextBox 4"/>
          <p:cNvSpPr txBox="1"/>
          <p:nvPr/>
        </p:nvSpPr>
        <p:spPr>
          <a:xfrm>
            <a:off x="537210" y="422910"/>
            <a:ext cx="384905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整体架构：三阶段闭环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07020" y="379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03 / 12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952500" y="1524000"/>
            <a:ext cx="10287000" cy="1524000"/>
            <a:chOff x="952500" y="1524000"/>
            <a:chExt cx="10287000" cy="1524000"/>
          </a:xfrm>
        </p:grpSpPr>
        <p:sp>
          <p:nvSpPr>
            <p:cNvPr id="7" name="Rectangle 7"/>
            <p:cNvSpPr/>
            <p:nvPr/>
          </p:nvSpPr>
          <p:spPr>
            <a:xfrm>
              <a:off x="952500" y="1524000"/>
              <a:ext cx="3048000" cy="1524000"/>
            </a:xfrm>
            <a:prstGeom prst="roundRect">
              <a:avLst>
                <a:gd name="adj" fmla="val 6250"/>
              </a:avLst>
            </a:prstGeom>
            <a:solidFill>
              <a:srgbClr val="152238"/>
            </a:solidFill>
            <a:ln w="19050">
              <a:solidFill>
                <a:srgbClr val="3B82F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1524000"/>
              <a:ext cx="3048000" cy="381000"/>
            </a:xfrm>
            <a:prstGeom prst="roundRect">
              <a:avLst>
                <a:gd name="adj" fmla="val 25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1714500"/>
              <a:ext cx="3048000" cy="1905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89176" y="164211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1B2A"/>
                  </a:solidFill>
                  <a:latin typeface="Arial"/>
                  <a:ea typeface="Microsoft YaHei"/>
                  <a:cs typeface="Arial"/>
                </a:rPr>
                <a:t>任务一：场景生成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54089" y="2077402"/>
              <a:ext cx="1244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用户手册 19 页文档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2594" y="2315528"/>
              <a:ext cx="11678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LLM 长上下文直填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52576" y="2553652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提取功能点 + 生成场景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10786" y="2799874"/>
              <a:ext cx="13314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118 功能点 / 179 场景</a:t>
              </a:r>
            </a:p>
          </p:txBody>
        </p:sp>
        <p:sp>
          <p:nvSpPr>
            <p:cNvPr id="15" name="Polygon 15"/>
            <p:cNvSpPr/>
            <p:nvPr/>
          </p:nvSpPr>
          <p:spPr>
            <a:xfrm>
              <a:off x="4095750" y="2190750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750" h="190500">
                  <a:moveTo>
                    <a:pt x="0" y="0"/>
                  </a:moveTo>
                  <a:lnTo>
                    <a:pt x="28575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000500" y="22860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3B82F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0" y="1524000"/>
              <a:ext cx="3048000" cy="1524000"/>
            </a:xfrm>
            <a:prstGeom prst="roundRect">
              <a:avLst>
                <a:gd name="adj" fmla="val 6250"/>
              </a:avLst>
            </a:prstGeom>
            <a:solidFill>
              <a:srgbClr val="152238"/>
            </a:solidFill>
            <a:ln w="19050">
              <a:solidFill>
                <a:srgbClr val="6366F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572000" y="1524000"/>
              <a:ext cx="3048000" cy="381000"/>
            </a:xfrm>
            <a:prstGeom prst="roundRect">
              <a:avLst>
                <a:gd name="adj" fmla="val 25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72000" y="1714500"/>
              <a:ext cx="3048000" cy="19050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36454" y="1642110"/>
              <a:ext cx="17190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任务二：ReAct 智能体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77564" y="207740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Playwright 浏览器自动化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84565" y="2315528"/>
              <a:ext cx="1622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20 领域工具 + 7 通用工具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94592" y="255365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AX 树文本观察空间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06770" y="2799874"/>
              <a:ext cx="15784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ReAct 循环 (≤20 步/场景)</a:t>
              </a:r>
            </a:p>
          </p:txBody>
        </p:sp>
        <p:sp>
          <p:nvSpPr>
            <p:cNvPr id="25" name="Polygon 25"/>
            <p:cNvSpPr/>
            <p:nvPr/>
          </p:nvSpPr>
          <p:spPr>
            <a:xfrm>
              <a:off x="7715250" y="2190750"/>
              <a:ext cx="285750" cy="190500"/>
            </a:xfrm>
            <a:custGeom>
              <a:avLst/>
              <a:gdLst/>
              <a:ahLst/>
              <a:cxnLst/>
              <a:rect l="l" t="t" r="r" b="b"/>
              <a:pathLst>
                <a:path w="285750" h="190500">
                  <a:moveTo>
                    <a:pt x="0" y="0"/>
                  </a:moveTo>
                  <a:lnTo>
                    <a:pt x="28575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7620000" y="22860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6366F1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91500" y="1524000"/>
              <a:ext cx="3048000" cy="1524000"/>
            </a:xfrm>
            <a:prstGeom prst="roundRect">
              <a:avLst>
                <a:gd name="adj" fmla="val 6250"/>
              </a:avLst>
            </a:prstGeom>
            <a:solidFill>
              <a:srgbClr val="152238"/>
            </a:solidFill>
            <a:ln w="19050">
              <a:solidFill>
                <a:srgbClr val="F59E0B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191500" y="1524000"/>
              <a:ext cx="3048000" cy="381000"/>
            </a:xfrm>
            <a:prstGeom prst="roundRect">
              <a:avLst>
                <a:gd name="adj" fmla="val 25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91500" y="1714500"/>
              <a:ext cx="3048000" cy="19050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99585" y="1642110"/>
              <a:ext cx="1231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1B2A"/>
                  </a:solidFill>
                  <a:latin typeface="Arial"/>
                  <a:ea typeface="Microsoft YaHei"/>
                  <a:cs typeface="Arial"/>
                </a:rPr>
                <a:t>判官 + 变异测试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50609" y="2077402"/>
              <a:ext cx="9297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独立 LLM 判官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12579" y="2315528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lenient / strict 双档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42095" y="25536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两层变异测试评估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58574" y="2799874"/>
              <a:ext cx="7138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PASS / FAIL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52500" y="3333750"/>
            <a:ext cx="10287000" cy="2381250"/>
            <a:chOff x="952500" y="3333750"/>
            <a:chExt cx="10287000" cy="2381250"/>
          </a:xfrm>
        </p:grpSpPr>
        <p:sp>
          <p:nvSpPr>
            <p:cNvPr id="36" name="Rectangle 36"/>
            <p:cNvSpPr/>
            <p:nvPr/>
          </p:nvSpPr>
          <p:spPr>
            <a:xfrm>
              <a:off x="952500" y="3333750"/>
              <a:ext cx="10287000" cy="2381250"/>
            </a:xfrm>
            <a:prstGeom prst="roundRect">
              <a:avLst>
                <a:gd name="adj" fmla="val 3200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21105" y="352139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关键技术决策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238250" y="3857625"/>
              <a:ext cx="2238375" cy="666750"/>
            </a:xfrm>
            <a:prstGeom prst="roundRect">
              <a:avLst>
                <a:gd name="adj" fmla="val 8571"/>
              </a:avLst>
            </a:prstGeom>
            <a:solidFill>
              <a:srgbClr val="0D1B2A"/>
            </a:solidFill>
            <a:ln w="9525">
              <a:solidFill>
                <a:srgbClr val="1E293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701984" y="3982402"/>
              <a:ext cx="1320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长上下文直填 &gt; RAG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990725" y="4236720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消除检索噪声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667125" y="3857625"/>
              <a:ext cx="2238375" cy="666750"/>
            </a:xfrm>
            <a:prstGeom prst="roundRect">
              <a:avLst>
                <a:gd name="adj" fmla="val 8571"/>
              </a:avLst>
            </a:prstGeom>
            <a:solidFill>
              <a:srgbClr val="0D1B2A"/>
            </a:solidFill>
            <a:ln w="9525">
              <a:solidFill>
                <a:srgbClr val="1E293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30097" y="3982402"/>
              <a:ext cx="11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零框架 LLM 调用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41590" y="4236720"/>
              <a:ext cx="898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去 LangChain 化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96000" y="3857625"/>
              <a:ext cx="2238375" cy="666750"/>
            </a:xfrm>
            <a:prstGeom prst="roundRect">
              <a:avLst>
                <a:gd name="adj" fmla="val 8571"/>
              </a:avLst>
            </a:prstGeom>
            <a:solidFill>
              <a:srgbClr val="0D1B2A"/>
            </a:solidFill>
            <a:ln w="9525">
              <a:solidFill>
                <a:srgbClr val="1E293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88375" y="3982402"/>
              <a:ext cx="10631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ReAct 循环架构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61464" y="4236720"/>
              <a:ext cx="9169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动态适应 UI 变化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524875" y="3857625"/>
              <a:ext cx="2428875" cy="666750"/>
            </a:xfrm>
            <a:prstGeom prst="roundRect">
              <a:avLst>
                <a:gd name="adj" fmla="val 8571"/>
              </a:avLst>
            </a:prstGeom>
            <a:solidFill>
              <a:srgbClr val="0D1B2A"/>
            </a:solidFill>
            <a:ln w="9525">
              <a:solidFill>
                <a:srgbClr val="1E293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058131" y="3982402"/>
              <a:ext cx="1371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独立判官 + 变异测试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72600" y="4236720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量化判官质量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238250" y="4667250"/>
              <a:ext cx="2238375" cy="666750"/>
            </a:xfrm>
            <a:prstGeom prst="roundRect">
              <a:avLst>
                <a:gd name="adj" fmla="val 8571"/>
              </a:avLst>
            </a:prstGeom>
            <a:solidFill>
              <a:srgbClr val="0D1B2A"/>
            </a:solidFill>
            <a:ln w="9525">
              <a:solidFill>
                <a:srgbClr val="1E293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793871" y="4792028"/>
              <a:ext cx="11366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TypeScript 原生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741694" y="5046345"/>
              <a:ext cx="12410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前后端一体 + 类型安全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667125" y="4667250"/>
              <a:ext cx="2238375" cy="666750"/>
            </a:xfrm>
            <a:prstGeom prst="roundRect">
              <a:avLst>
                <a:gd name="adj" fmla="val 8571"/>
              </a:avLst>
            </a:prstGeom>
            <a:solidFill>
              <a:srgbClr val="0D1B2A"/>
            </a:solidFill>
            <a:ln w="9525">
              <a:solidFill>
                <a:srgbClr val="1E293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252149" y="4792028"/>
              <a:ext cx="1077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docs → tools 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410599" y="5046345"/>
              <a:ext cx="760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Task1→2 闭环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096000" y="4667250"/>
              <a:ext cx="2238375" cy="666750"/>
            </a:xfrm>
            <a:prstGeom prst="roundRect">
              <a:avLst>
                <a:gd name="adj" fmla="val 8571"/>
              </a:avLst>
            </a:prstGeom>
            <a:solidFill>
              <a:srgbClr val="0D1B2A"/>
            </a:solidFill>
            <a:ln w="9525">
              <a:solidFill>
                <a:srgbClr val="1E293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14103" y="4792028"/>
              <a:ext cx="10116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国产 DeepSeek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26447" y="5046345"/>
              <a:ext cx="11870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OpenAI 兼容 + 低成本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524875" y="4667250"/>
              <a:ext cx="2428875" cy="666750"/>
            </a:xfrm>
            <a:prstGeom prst="roundRect">
              <a:avLst>
                <a:gd name="adj" fmla="val 8571"/>
              </a:avLst>
            </a:prstGeom>
            <a:solidFill>
              <a:srgbClr val="0D1B2A"/>
            </a:solidFill>
            <a:ln w="9525">
              <a:solidFill>
                <a:srgbClr val="1E293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363194" y="47920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交付全自研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77576" y="5046345"/>
              <a:ext cx="1132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不抄上游 4gaBoards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571500" y="600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561022" y="6102191"/>
            <a:ext cx="17096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4gaboard_agent_plus · 答辩演示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8572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gradFill>
              <a:gsLst>
                <a:gs pos="0">
                  <a:srgbClr val="3B82F6"/>
                </a:gs>
                <a:gs pos="100000">
                  <a:srgbClr val="6366F1"/>
                </a:gs>
              </a:gsLst>
              <a:lin ang="0" scaled="1"/>
            </a:gradFill>
          </a:ln>
        </p:spPr>
      </p:sp>
      <p:sp>
        <p:nvSpPr>
          <p:cNvPr id="4" name="TextBox 4"/>
          <p:cNvSpPr txBox="1"/>
          <p:nvPr/>
        </p:nvSpPr>
        <p:spPr>
          <a:xfrm>
            <a:off x="537210" y="422910"/>
            <a:ext cx="460514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任务一：测试场景自动生成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07020" y="379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04 / 12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571500" y="1190625"/>
            <a:ext cx="11058525" cy="876300"/>
            <a:chOff x="571500" y="1190625"/>
            <a:chExt cx="11058525" cy="876300"/>
          </a:xfrm>
        </p:grpSpPr>
        <p:sp>
          <p:nvSpPr>
            <p:cNvPr id="7" name="Rectangle 7"/>
            <p:cNvSpPr/>
            <p:nvPr/>
          </p:nvSpPr>
          <p:spPr>
            <a:xfrm>
              <a:off x="571500" y="1190625"/>
              <a:ext cx="3476625" cy="762000"/>
            </a:xfrm>
            <a:prstGeom prst="roundRect">
              <a:avLst>
                <a:gd name="adj" fmla="val 10000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07168" y="1371124"/>
              <a:ext cx="414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功能点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68396" y="15182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gradFill>
                    <a:gsLst>
                      <a:gs pos="0">
                        <a:srgbClr val="F59E0B"/>
                      </a:gs>
                      <a:gs pos="100000">
                        <a:srgbClr val="D97706"/>
                      </a:gs>
                    </a:gsLst>
                    <a:lin ang="2700000" scaled="1"/>
                  </a:gradFill>
                  <a:latin typeface="Arial"/>
                  <a:ea typeface="Arial"/>
                  <a:cs typeface="Arial"/>
                </a:rPr>
                <a:t>118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362450" y="1190625"/>
              <a:ext cx="3476625" cy="762000"/>
            </a:xfrm>
            <a:prstGeom prst="roundRect">
              <a:avLst>
                <a:gd name="adj" fmla="val 10000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23585" y="137112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测试场景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49821" y="1518285"/>
              <a:ext cx="69235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gradFill>
                    <a:gsLst>
                      <a:gs pos="0">
                        <a:srgbClr val="F59E0B"/>
                      </a:gs>
                      <a:gs pos="100000">
                        <a:srgbClr val="D97706"/>
                      </a:gs>
                    </a:gsLst>
                    <a:lin ang="2700000" scaled="1"/>
                  </a:gradFill>
                  <a:latin typeface="Arial"/>
                  <a:ea typeface="Arial"/>
                  <a:cs typeface="Arial"/>
                </a:rPr>
                <a:t>179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153400" y="1190625"/>
              <a:ext cx="3476625" cy="762000"/>
            </a:xfrm>
            <a:prstGeom prst="roundRect">
              <a:avLst>
                <a:gd name="adj" fmla="val 10000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59052" y="137112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功能覆盖率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8528" y="1518285"/>
              <a:ext cx="97589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2C55E"/>
                  </a:solidFill>
                  <a:latin typeface="Arial"/>
                  <a:ea typeface="Arial"/>
                  <a:cs typeface="Arial"/>
                </a:rPr>
                <a:t>100%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2143125"/>
            <a:ext cx="11058525" cy="1905000"/>
            <a:chOff x="571500" y="2143125"/>
            <a:chExt cx="11058525" cy="1905000"/>
          </a:xfrm>
        </p:grpSpPr>
        <p:sp>
          <p:nvSpPr>
            <p:cNvPr id="17" name="Rectangle 17"/>
            <p:cNvSpPr/>
            <p:nvPr/>
          </p:nvSpPr>
          <p:spPr>
            <a:xfrm>
              <a:off x="571500" y="2143125"/>
              <a:ext cx="3476625" cy="1905000"/>
            </a:xfrm>
            <a:prstGeom prst="roundRect">
              <a:avLst>
                <a:gd name="adj" fmla="val 4000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2480" y="2283142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知识源（双通道）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" y="2619375"/>
              <a:ext cx="3048000" cy="333375"/>
            </a:xfrm>
            <a:prstGeom prst="roundRect">
              <a:avLst>
                <a:gd name="adj" fmla="val 11429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7742" y="2723674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4gaBoardsDocs/docs/*.md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7742" y="2990374"/>
              <a:ext cx="24300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account/project/board/list/card/...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9625" y="3286125"/>
              <a:ext cx="3048000" cy="333375"/>
            </a:xfrm>
            <a:prstGeom prst="roundRect">
              <a:avLst>
                <a:gd name="adj" fmla="val 11429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87742" y="3390424"/>
              <a:ext cx="7398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4gaBoards/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7742" y="3657124"/>
              <a:ext cx="1903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源码参考 (REST API / 数据模型)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362450" y="2143125"/>
              <a:ext cx="3476625" cy="1905000"/>
            </a:xfrm>
            <a:prstGeom prst="roundRect">
              <a:avLst>
                <a:gd name="adj" fmla="val 4000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83430" y="2283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检索策略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85335" y="2632710"/>
              <a:ext cx="15090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长上下文直填 &gt; RAG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8192" y="2895124"/>
              <a:ext cx="1903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• DeepSeek 具备 1M 上下文窗口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8192" y="313324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• 整段文档直接送入 LLM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88192" y="3371374"/>
              <a:ext cx="20790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• RAG 检索到语义相近但不相同内容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88192" y="3609499"/>
              <a:ext cx="18254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• 引入噪声，反而降低场景质量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88192" y="3847624"/>
              <a:ext cx="23585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（.env 保留 RETRIEVER_MODE 备对比）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153400" y="2143125"/>
              <a:ext cx="3476625" cy="1905000"/>
            </a:xfrm>
            <a:prstGeom prst="roundRect">
              <a:avLst>
                <a:gd name="adj" fmla="val 4000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74380" y="2283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生成流程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78190" y="2601278"/>
              <a:ext cx="13351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Step 1: 功能点提取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9142" y="2847499"/>
              <a:ext cx="24040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按模块提取 → 合并去重 → 合并同族微操作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8190" y="3172778"/>
              <a:ext cx="1188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Step 2: 场景生成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9142" y="3418999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功能点 + 来源文档全文 → LLM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9142" y="3657124"/>
              <a:ext cx="22935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每功能点 1~3 场景 (必含 happy_path)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4238625"/>
            <a:ext cx="5334000" cy="1476375"/>
            <a:chOff x="571500" y="4238625"/>
            <a:chExt cx="5334000" cy="1476375"/>
          </a:xfrm>
        </p:grpSpPr>
        <p:sp>
          <p:nvSpPr>
            <p:cNvPr id="41" name="Rectangle 41"/>
            <p:cNvSpPr/>
            <p:nvPr/>
          </p:nvSpPr>
          <p:spPr>
            <a:xfrm>
              <a:off x="571500" y="4238625"/>
              <a:ext cx="5334000" cy="1476375"/>
            </a:xfrm>
            <a:prstGeom prst="roundRect">
              <a:avLst>
                <a:gd name="adj" fmla="val 5161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92480" y="4378642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场景格式：结构化测试预言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7242" y="4704874"/>
              <a:ext cx="24950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测试场景 = [ [step]+ [expectation]? ]+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7242" y="4942999"/>
              <a:ext cx="36262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step：具体 UI 操作 (点击/输入/拖拽/选择)，引用真实元素名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7242" y="5181124"/>
              <a:ext cx="4282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expectation：预期状态，含 key_features (出现元素/文本/状态/数值)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242" y="5466874"/>
              <a:ext cx="40747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一个场景可含多个「步骤组 + 检查点」段落，在关键节点验证中间状态</a:t>
              </a:r>
            </a:p>
          </p:txBody>
        </p:sp>
      </p:grpSp>
      <p:sp>
        <p:nvSpPr>
          <p:cNvPr id="48" name="Rectangle 48"/>
          <p:cNvSpPr/>
          <p:nvPr/>
        </p:nvSpPr>
        <p:spPr>
          <a:xfrm>
            <a:off x="6286500" y="4238625"/>
            <a:ext cx="5334000" cy="1476375"/>
          </a:xfrm>
          <a:prstGeom prst="roundRect">
            <a:avLst>
              <a:gd name="adj" fmla="val 5161"/>
            </a:avLst>
          </a:prstGeom>
          <a:solidFill>
            <a:srgbClr val="152238"/>
          </a:solidFill>
          <a:ln w="9525">
            <a:solidFill>
              <a:srgbClr val="1E293B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507480" y="4378642"/>
            <a:ext cx="32098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vs 原版 (4gaboard_agent) 关键差异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11290" y="4696778"/>
            <a:ext cx="36461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检索策略：RAG (ChromaDB + Embedding) → 长上下文直填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12242" y="4942999"/>
            <a:ext cx="16044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消除向量库运维 + 检索噪声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11290" y="5173028"/>
            <a:ext cx="27710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场景规模：65 场景 → 179 场景 (100% 覆盖)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12242" y="5419249"/>
            <a:ext cx="29111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双语言 (Python 原型 + TS 主交付, schema 互通)</a:t>
            </a:r>
          </a:p>
        </p:txBody>
      </p:sp>
      <p:sp>
        <p:nvSpPr>
          <p:cNvPr id="54" name="Line 54"/>
          <p:cNvSpPr/>
          <p:nvPr/>
        </p:nvSpPr>
        <p:spPr>
          <a:xfrm>
            <a:off x="571500" y="600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61022" y="6102191"/>
            <a:ext cx="17096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4gaboard_agent_plus · 答辩演示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8572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gradFill>
              <a:gsLst>
                <a:gs pos="0">
                  <a:srgbClr val="3B82F6"/>
                </a:gs>
                <a:gs pos="100000">
                  <a:srgbClr val="6366F1"/>
                </a:gs>
              </a:gsLst>
              <a:lin ang="0" scaled="1"/>
            </a:gradFill>
          </a:ln>
        </p:spPr>
      </p:sp>
      <p:sp>
        <p:nvSpPr>
          <p:cNvPr id="4" name="TextBox 4"/>
          <p:cNvSpPr txBox="1"/>
          <p:nvPr/>
        </p:nvSpPr>
        <p:spPr>
          <a:xfrm>
            <a:off x="537210" y="422910"/>
            <a:ext cx="46240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任务二：ReAct 测试智能体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07020" y="379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05 / 12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571500" y="1143000"/>
            <a:ext cx="5334000" cy="3048000"/>
            <a:chOff x="571500" y="1143000"/>
            <a:chExt cx="5334000" cy="3048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3048000"/>
            </a:xfrm>
            <a:prstGeom prst="roundRect">
              <a:avLst>
                <a:gd name="adj" fmla="val 2500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2480" y="1283018"/>
              <a:ext cx="13669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ReAct 循环模型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905000" y="161925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0D1B2A"/>
            </a:solidFill>
            <a:ln w="14288">
              <a:solidFill>
                <a:srgbClr val="3B82F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97382" y="1775460"/>
              <a:ext cx="12822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Observe (观察)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238500" y="20764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3B82F6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190875" y="2238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905000" y="2333625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0D1B2A"/>
            </a:solidFill>
            <a:ln w="14288">
              <a:solidFill>
                <a:srgbClr val="6366F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43588" y="2489835"/>
              <a:ext cx="11898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Think (选工具)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238500" y="279082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6366F1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190875" y="2952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905000" y="3048000"/>
              <a:ext cx="2667000" cy="457200"/>
            </a:xfrm>
            <a:prstGeom prst="roundRect">
              <a:avLst>
                <a:gd name="adj" fmla="val 16667"/>
              </a:avLst>
            </a:prstGeom>
            <a:solidFill>
              <a:srgbClr val="0D1B2A"/>
            </a:solidFill>
            <a:ln w="14288">
              <a:solidFill>
                <a:srgbClr val="F59E0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630986" y="3204210"/>
              <a:ext cx="12150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Act (执行工具)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4572000" y="1847850"/>
              <a:ext cx="190500" cy="1428750"/>
            </a:xfrm>
            <a:custGeom>
              <a:avLst/>
              <a:gdLst/>
              <a:ahLst/>
              <a:cxnLst/>
              <a:rect l="l" t="t" r="r" b="b"/>
              <a:pathLst>
                <a:path w="190500" h="1428750">
                  <a:moveTo>
                    <a:pt x="0" y="1428750"/>
                  </a:moveTo>
                  <a:cubicBezTo>
                    <a:pt x="127000" y="1428750"/>
                    <a:pt x="190500" y="1289050"/>
                    <a:pt x="190500" y="1009650"/>
                  </a:cubicBezTo>
                  <a:cubicBezTo>
                    <a:pt x="190500" y="336550"/>
                    <a:pt x="127000" y="0"/>
                    <a:pt x="0" y="0"/>
                  </a:cubicBezTo>
                </a:path>
              </a:pathLst>
            </a:custGeom>
            <a:noFill/>
            <a:ln w="11430">
              <a:solidFill>
                <a:srgbClr val="94A3B8"/>
              </a:solidFill>
              <a:custDash>
                <a:ds d="333333" sp="250000"/>
              </a:custDash>
            </a:ln>
          </p:spPr>
        </p:sp>
        <p:sp>
          <p:nvSpPr>
            <p:cNvPr id="20" name="Polygon 20"/>
            <p:cNvSpPr/>
            <p:nvPr/>
          </p:nvSpPr>
          <p:spPr>
            <a:xfrm>
              <a:off x="4552950" y="1790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114300"/>
                  </a:moveTo>
                  <a:lnTo>
                    <a:pt x="9525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905000" y="3667125"/>
              <a:ext cx="2667000" cy="381000"/>
            </a:xfrm>
            <a:prstGeom prst="roundRect">
              <a:avLst>
                <a:gd name="adj" fmla="val 20000"/>
              </a:avLst>
            </a:prstGeom>
            <a:solidFill>
              <a:srgbClr val="152238"/>
            </a:solidFill>
            <a:ln w="9525">
              <a:solidFill>
                <a:srgbClr val="22C55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96622" y="3793331"/>
              <a:ext cx="14837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done → 结束 (≤20 步)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1070" y="1760220"/>
              <a:ext cx="8869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AX 树文本 + ref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1070" y="2474595"/>
              <a:ext cx="9289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Function Calling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1143000"/>
            <a:ext cx="5334000" cy="3048000"/>
            <a:chOff x="6286500" y="1143000"/>
            <a:chExt cx="5334000" cy="30480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143000"/>
              <a:ext cx="5334000" cy="3048000"/>
            </a:xfrm>
            <a:prstGeom prst="roundRect">
              <a:avLst>
                <a:gd name="adj" fmla="val 2500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07480" y="12830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四要素落地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24625" y="1619250"/>
              <a:ext cx="4857750" cy="523875"/>
            </a:xfrm>
            <a:prstGeom prst="roundRect">
              <a:avLst>
                <a:gd name="adj" fmla="val 10909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00838" y="1735931"/>
              <a:ext cx="11784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规划 (Planning)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02742" y="1942624"/>
              <a:ext cx="3619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场景 phases[] 作骨架; 维护 step 指针, 抽象步骤 → 工具调用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24625" y="2238375"/>
              <a:ext cx="4857750" cy="523875"/>
            </a:xfrm>
            <a:prstGeom prst="roundRect">
              <a:avLst>
                <a:gd name="adj" fmla="val 10909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00838" y="2355056"/>
              <a:ext cx="11469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记忆 (Memory)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2742" y="2561749"/>
              <a:ext cx="39577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短期轨迹 (thought/action/observation) + scratchpad (资源名)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24625" y="2857500"/>
              <a:ext cx="4857750" cy="523875"/>
            </a:xfrm>
            <a:prstGeom prst="roundRect">
              <a:avLst>
                <a:gd name="adj" fmla="val 10909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00838" y="2974181"/>
              <a:ext cx="13044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执行 (Execution)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02742" y="3180874"/>
              <a:ext cx="38342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Playwright 工具执行器; 元素找不到/超时作为 observation 反馈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24625" y="3476625"/>
              <a:ext cx="4857750" cy="523875"/>
            </a:xfrm>
            <a:prstGeom prst="roundRect">
              <a:avLst>
                <a:gd name="adj" fmla="val 10909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00838" y="3593306"/>
              <a:ext cx="14856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验证 (Verification)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2742" y="3799999"/>
              <a:ext cx="36132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独立 LLM 判官: 步骤检查点 + 场景终判 PASS/FAIL + 失败定位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4381500"/>
            <a:ext cx="5334000" cy="1238250"/>
            <a:chOff x="571500" y="4381500"/>
            <a:chExt cx="5334000" cy="1238250"/>
          </a:xfrm>
        </p:grpSpPr>
        <p:sp>
          <p:nvSpPr>
            <p:cNvPr id="41" name="Rectangle 41"/>
            <p:cNvSpPr/>
            <p:nvPr/>
          </p:nvSpPr>
          <p:spPr>
            <a:xfrm>
              <a:off x="571500" y="4381500"/>
              <a:ext cx="5334000" cy="1238250"/>
            </a:xfrm>
            <a:prstGeom prst="roundRect">
              <a:avLst>
                <a:gd name="adj" fmla="val 6154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92480" y="4521518"/>
              <a:ext cx="26806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两条底线（端到端测试有效性）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6290" y="4839652"/>
              <a:ext cx="31840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1. 被测动作必须走真实 UI，不得用后端 API 走捷径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7242" y="5085874"/>
              <a:ext cx="31776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API 仅用于前置数据准备/清理，绝不用于被测动作本身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6290" y="5315902"/>
              <a:ext cx="3744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2. 验证看真实渲染页 (AX/截图)，不只信工具返回的"成功"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6286500" y="4381500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152238"/>
          </a:solidFill>
          <a:ln w="9525">
            <a:solidFill>
              <a:srgbClr val="1E293B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507480" y="4521518"/>
            <a:ext cx="32476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观察空间：文本可访问性树 (AX Tree)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11290" y="4839652"/>
            <a:ext cx="2161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页面 → 结构化文本列表 + 元素 ref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12242" y="5085874"/>
            <a:ext cx="3307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[ref] role "name" (button / input / h1-h6 / [...] )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12242" y="5323999"/>
            <a:ext cx="29046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模型无关：适配 DeepSeek 文本模型，不依赖 VLM</a:t>
            </a:r>
          </a:p>
        </p:txBody>
      </p:sp>
      <p:sp>
        <p:nvSpPr>
          <p:cNvPr id="52" name="Line 52"/>
          <p:cNvSpPr/>
          <p:nvPr/>
        </p:nvSpPr>
        <p:spPr>
          <a:xfrm>
            <a:off x="571500" y="600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561022" y="6102191"/>
            <a:ext cx="17096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4gaboard_agent_plus · 答辩演示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8572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gradFill>
              <a:gsLst>
                <a:gs pos="0">
                  <a:srgbClr val="3B82F6"/>
                </a:gs>
                <a:gs pos="100000">
                  <a:srgbClr val="6366F1"/>
                </a:gs>
              </a:gsLst>
              <a:lin ang="0" scaled="1"/>
            </a:gradFill>
          </a:ln>
        </p:spPr>
      </p:sp>
      <p:sp>
        <p:nvSpPr>
          <p:cNvPr id="4" name="TextBox 4"/>
          <p:cNvSpPr txBox="1"/>
          <p:nvPr/>
        </p:nvSpPr>
        <p:spPr>
          <a:xfrm>
            <a:off x="537210" y="422910"/>
            <a:ext cx="778074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领域工具设计：20 个领域工具 + 7 个通用工具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07020" y="379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06 / 12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57212" y="1164431"/>
            <a:ext cx="49566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两层工具设计：A 层领域工具封装高频业务操作 + B 层通用浏览器工具兜底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71500" y="1524000"/>
            <a:ext cx="6518684" cy="3143250"/>
            <a:chOff x="571500" y="1524000"/>
            <a:chExt cx="6518684" cy="3143250"/>
          </a:xfrm>
        </p:grpSpPr>
        <p:sp>
          <p:nvSpPr>
            <p:cNvPr id="8" name="Rectangle 8"/>
            <p:cNvSpPr/>
            <p:nvPr/>
          </p:nvSpPr>
          <p:spPr>
            <a:xfrm>
              <a:off x="571500" y="1524000"/>
              <a:ext cx="5715000" cy="3143250"/>
            </a:xfrm>
            <a:prstGeom prst="roundRect">
              <a:avLst>
                <a:gd name="adj" fmla="val 2424"/>
              </a:avLst>
            </a:prstGeom>
            <a:solidFill>
              <a:srgbClr val="152238"/>
            </a:solidFill>
            <a:ln w="19050">
              <a:solidFill>
                <a:srgbClr val="3B82F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524000"/>
              <a:ext cx="5715000" cy="342900"/>
            </a:xfrm>
            <a:prstGeom prst="roundRect">
              <a:avLst>
                <a:gd name="adj" fmla="val 22222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695450"/>
              <a:ext cx="5715000" cy="1714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35988" y="1632585"/>
              <a:ext cx="27860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1B2A"/>
                  </a:solidFill>
                  <a:latin typeface="Arial"/>
                  <a:ea typeface="Microsoft YaHei"/>
                  <a:cs typeface="Arial"/>
                </a:rPr>
                <a:t>A 层：20 个领域工具（驱动真实 UI）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000250"/>
              <a:ext cx="1666875" cy="57150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9525">
              <a:solidFill>
                <a:srgbClr val="3B82F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19319" y="21250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B82F6"/>
                  </a:solidFill>
                  <a:latin typeface="Arial"/>
                  <a:ea typeface="Arial"/>
                  <a:cs typeface="Arial"/>
                </a:rPr>
                <a:t>auth_login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48740" y="233172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认证登录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571750" y="2000250"/>
              <a:ext cx="1666875" cy="57150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9525">
              <a:solidFill>
                <a:srgbClr val="3B82F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65199" y="2125028"/>
              <a:ext cx="14895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B82F6"/>
                  </a:solidFill>
                  <a:latin typeface="Arial"/>
                  <a:ea typeface="Arial"/>
                  <a:cs typeface="Arial"/>
                </a:rPr>
                <a:t>board_create / open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05471" y="2331720"/>
              <a:ext cx="808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看板创建/打开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381500" y="2000250"/>
              <a:ext cx="1762125" cy="57150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9525">
              <a:solidFill>
                <a:srgbClr val="3B82F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63004" y="2125028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B82F6"/>
                  </a:solidFill>
                  <a:latin typeface="Arial"/>
                  <a:ea typeface="Arial"/>
                  <a:cs typeface="Arial"/>
                </a:rPr>
                <a:t>card_create / open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62846" y="2331720"/>
              <a:ext cx="808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卡片创建/打开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2686050"/>
              <a:ext cx="1666875" cy="57150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9525">
              <a:solidFill>
                <a:srgbClr val="6366F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35546" y="2810828"/>
              <a:ext cx="11293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366F1"/>
                  </a:solidFill>
                  <a:latin typeface="Arial"/>
                  <a:ea typeface="Arial"/>
                  <a:cs typeface="Arial"/>
                </a:rPr>
                <a:t>card_edit_title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48740" y="301752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编辑标题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571750" y="2686050"/>
              <a:ext cx="1666875" cy="57150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9525">
              <a:solidFill>
                <a:srgbClr val="6366F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690927" y="2810828"/>
              <a:ext cx="14380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366F1"/>
                  </a:solidFill>
                  <a:latin typeface="Arial"/>
                  <a:ea typeface="Arial"/>
                  <a:cs typeface="Arial"/>
                </a:rPr>
                <a:t>card_manage_labels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8490" y="301752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标签管理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81500" y="2686050"/>
              <a:ext cx="1762125" cy="57150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9525">
              <a:solidFill>
                <a:srgbClr val="6366F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25486" y="2810828"/>
              <a:ext cx="1283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366F1"/>
                  </a:solidFill>
                  <a:latin typeface="Arial"/>
                  <a:ea typeface="Arial"/>
                  <a:cs typeface="Arial"/>
                </a:rPr>
                <a:t>card_text_editor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95850" y="3017520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富文本编辑器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371850"/>
              <a:ext cx="1666875" cy="57150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9525">
              <a:solidFill>
                <a:srgbClr val="F59E0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49485" y="3496628"/>
              <a:ext cx="9014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59E0B"/>
                  </a:solidFill>
                  <a:latin typeface="Arial"/>
                  <a:ea typeface="Arial"/>
                  <a:cs typeface="Arial"/>
                </a:rPr>
                <a:t>view_switch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48740" y="370332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视图切换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571750" y="3371850"/>
              <a:ext cx="1666875" cy="57150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9525">
              <a:solidFill>
                <a:srgbClr val="F59E0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889402" y="349662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59E0B"/>
                  </a:solidFill>
                  <a:latin typeface="Arial"/>
                  <a:ea typeface="Arial"/>
                  <a:cs typeface="Arial"/>
                </a:rPr>
                <a:t>settings_open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58490" y="370332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设置打开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381500" y="3371850"/>
              <a:ext cx="1762125" cy="571500"/>
            </a:xfrm>
            <a:prstGeom prst="roundRect">
              <a:avLst>
                <a:gd name="adj" fmla="val 10000"/>
              </a:avLst>
            </a:prstGeom>
            <a:solidFill>
              <a:srgbClr val="0D1B2A"/>
            </a:solidFill>
            <a:ln w="9525">
              <a:solidFill>
                <a:srgbClr val="F59E0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90120" y="3496628"/>
              <a:ext cx="7544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59E0B"/>
                  </a:solidFill>
                  <a:latin typeface="Arial"/>
                  <a:ea typeface="Arial"/>
                  <a:cs typeface="Arial"/>
                </a:rPr>
                <a:t>card_drag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15865" y="370332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拖拽排序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44466" y="4085749"/>
              <a:ext cx="36457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4748B"/>
                  </a:solidFill>
                  <a:latin typeface="Arial"/>
                  <a:ea typeface="Arial"/>
                  <a:cs typeface="Arial"/>
                </a:rPr>
                <a:t>+ list_view_sort / toggle_column / card_menu_action ...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667500" y="1524000"/>
            <a:ext cx="4953000" cy="3143250"/>
            <a:chOff x="6667500" y="1524000"/>
            <a:chExt cx="4953000" cy="3143250"/>
          </a:xfrm>
        </p:grpSpPr>
        <p:sp>
          <p:nvSpPr>
            <p:cNvPr id="41" name="Rectangle 41"/>
            <p:cNvSpPr/>
            <p:nvPr/>
          </p:nvSpPr>
          <p:spPr>
            <a:xfrm>
              <a:off x="6667500" y="1524000"/>
              <a:ext cx="4953000" cy="3143250"/>
            </a:xfrm>
            <a:prstGeom prst="roundRect">
              <a:avLst>
                <a:gd name="adj" fmla="val 2424"/>
              </a:avLst>
            </a:prstGeom>
            <a:solidFill>
              <a:srgbClr val="152238"/>
            </a:solidFill>
            <a:ln w="14288">
              <a:solidFill>
                <a:srgbClr val="94A3B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67500" y="1524000"/>
              <a:ext cx="4953000" cy="342900"/>
            </a:xfrm>
            <a:prstGeom prst="roundRect">
              <a:avLst>
                <a:gd name="adj" fmla="val 22222"/>
              </a:avLst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67500" y="1695450"/>
              <a:ext cx="4953000" cy="171450"/>
            </a:xfrm>
            <a:prstGeom prst="rect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809795" y="1632585"/>
              <a:ext cx="26684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D1B2A"/>
                  </a:solidFill>
                  <a:latin typeface="Arial"/>
                  <a:ea typeface="Microsoft YaHei"/>
                  <a:cs typeface="Arial"/>
                </a:rPr>
                <a:t>B 层：7 个通用浏览器工具（兜底）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58000" y="2000250"/>
              <a:ext cx="2190750" cy="428625"/>
            </a:xfrm>
            <a:prstGeom prst="roundRect">
              <a:avLst>
                <a:gd name="adj" fmla="val 13333"/>
              </a:avLst>
            </a:prstGeom>
            <a:solidFill>
              <a:srgbClr val="0D1B2A"/>
            </a:solidFill>
            <a:ln w="9525">
              <a:solidFill>
                <a:srgbClr val="6474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67956" y="2077402"/>
              <a:ext cx="1370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</a:rPr>
                <a:t>browser.click(ref)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01915" y="22650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点击元素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239250" y="2000250"/>
              <a:ext cx="2190750" cy="428625"/>
            </a:xfrm>
            <a:prstGeom prst="roundRect">
              <a:avLst>
                <a:gd name="adj" fmla="val 13333"/>
              </a:avLst>
            </a:prstGeom>
            <a:solidFill>
              <a:srgbClr val="0D1B2A"/>
            </a:solidFill>
            <a:ln w="9525">
              <a:solidFill>
                <a:srgbClr val="64748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568696" y="2077402"/>
              <a:ext cx="15318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</a:rPr>
                <a:t>browser.fill(ref,val)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83165" y="22650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填写输入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58000" y="2543175"/>
              <a:ext cx="2190750" cy="428625"/>
            </a:xfrm>
            <a:prstGeom prst="roundRect">
              <a:avLst>
                <a:gd name="adj" fmla="val 13333"/>
              </a:avLst>
            </a:prstGeom>
            <a:solidFill>
              <a:srgbClr val="0D1B2A"/>
            </a:solidFill>
            <a:ln w="9525">
              <a:solidFill>
                <a:srgbClr val="64748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32952" y="2620328"/>
              <a:ext cx="14408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</a:rPr>
                <a:t>browser.press(key)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21930" y="2807970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按键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239250" y="2543175"/>
              <a:ext cx="2190750" cy="428625"/>
            </a:xfrm>
            <a:prstGeom prst="roundRect">
              <a:avLst>
                <a:gd name="adj" fmla="val 13333"/>
              </a:avLst>
            </a:prstGeom>
            <a:solidFill>
              <a:srgbClr val="0D1B2A"/>
            </a:solidFill>
            <a:ln w="9525">
              <a:solidFill>
                <a:srgbClr val="64748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687711" y="2620328"/>
              <a:ext cx="1293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</a:rPr>
                <a:t>browser.scroll(d)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03180" y="2807970"/>
              <a:ext cx="2628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滚动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858000" y="3086100"/>
              <a:ext cx="2190750" cy="428625"/>
            </a:xfrm>
            <a:prstGeom prst="roundRect">
              <a:avLst>
                <a:gd name="adj" fmla="val 13333"/>
              </a:avLst>
            </a:prstGeom>
            <a:solidFill>
              <a:srgbClr val="0D1B2A"/>
            </a:solidFill>
            <a:ln w="9525">
              <a:solidFill>
                <a:srgbClr val="64748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88959" y="3163252"/>
              <a:ext cx="13288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</a:rPr>
                <a:t>browser.goto(url)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01915" y="33508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导航跳转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239250" y="3086100"/>
              <a:ext cx="2190750" cy="428625"/>
            </a:xfrm>
            <a:prstGeom prst="roundRect">
              <a:avLst>
                <a:gd name="adj" fmla="val 13333"/>
              </a:avLst>
            </a:prstGeom>
            <a:solidFill>
              <a:srgbClr val="0D1B2A"/>
            </a:solidFill>
            <a:ln w="9525">
              <a:solidFill>
                <a:srgbClr val="64748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652706" y="3163252"/>
              <a:ext cx="13638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E2E8F0"/>
                  </a:solidFill>
                  <a:latin typeface="Consolas"/>
                  <a:ea typeface="Consolas"/>
                  <a:cs typeface="Consolas"/>
                </a:rPr>
                <a:t>browser.observe()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83165" y="33508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页面观察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572375" y="3629025"/>
              <a:ext cx="3333750" cy="428625"/>
            </a:xfrm>
            <a:prstGeom prst="roundRect">
              <a:avLst>
                <a:gd name="adj" fmla="val 13333"/>
              </a:avLst>
            </a:prstGeom>
            <a:solidFill>
              <a:srgbClr val="0D1B2A"/>
            </a:solidFill>
            <a:ln w="9525">
              <a:solidFill>
                <a:srgbClr val="22C55E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420814" y="3706178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browser.done(verdict)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87790" y="389382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结束任务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4857750"/>
            <a:ext cx="11053810" cy="762000"/>
            <a:chOff x="571500" y="4857750"/>
            <a:chExt cx="11053810" cy="762000"/>
          </a:xfrm>
        </p:grpSpPr>
        <p:sp>
          <p:nvSpPr>
            <p:cNvPr id="67" name="Rectangle 67"/>
            <p:cNvSpPr/>
            <p:nvPr/>
          </p:nvSpPr>
          <p:spPr>
            <a:xfrm>
              <a:off x="571500" y="485775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152238"/>
            </a:solidFill>
            <a:ln w="19050">
              <a:solidFill>
                <a:srgbClr val="F59E0B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92480" y="4997768"/>
              <a:ext cx="2141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创新点：docs → tools 桥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96290" y="5296852"/>
              <a:ext cx="108290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任务一的 118 个功能点 = 工具清单 → 自动脚手架工具 stub (name 取 feature id, params 从 key_elements 推) → Playwright handler 人工补。Task1→Task2 的干净闭环。</a:t>
              </a:r>
            </a:p>
          </p:txBody>
        </p:sp>
      </p:grpSp>
      <p:sp>
        <p:nvSpPr>
          <p:cNvPr id="71" name="Line 71"/>
          <p:cNvSpPr/>
          <p:nvPr/>
        </p:nvSpPr>
        <p:spPr>
          <a:xfrm>
            <a:off x="571500" y="600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561022" y="6102191"/>
            <a:ext cx="17096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4gaboard_agent_plus · 答辩演示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8572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gradFill>
              <a:gsLst>
                <a:gs pos="0">
                  <a:srgbClr val="3B82F6"/>
                </a:gs>
                <a:gs pos="100000">
                  <a:srgbClr val="6366F1"/>
                </a:gs>
              </a:gsLst>
              <a:lin ang="0" scaled="1"/>
            </a:gradFill>
          </a:ln>
        </p:spPr>
      </p:sp>
      <p:sp>
        <p:nvSpPr>
          <p:cNvPr id="4" name="TextBox 4"/>
          <p:cNvSpPr txBox="1"/>
          <p:nvPr/>
        </p:nvSpPr>
        <p:spPr>
          <a:xfrm>
            <a:off x="537210" y="422910"/>
            <a:ext cx="352771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独立判官 + 变异测试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07020" y="379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07 / 12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571500" y="1190625"/>
            <a:ext cx="6461236" cy="2286000"/>
            <a:chOff x="571500" y="1190625"/>
            <a:chExt cx="6461236" cy="2286000"/>
          </a:xfrm>
        </p:grpSpPr>
        <p:sp>
          <p:nvSpPr>
            <p:cNvPr id="7" name="Rectangle 7"/>
            <p:cNvSpPr/>
            <p:nvPr/>
          </p:nvSpPr>
          <p:spPr>
            <a:xfrm>
              <a:off x="571500" y="1190625"/>
              <a:ext cx="5524500" cy="2286000"/>
            </a:xfrm>
            <a:prstGeom prst="roundRect">
              <a:avLst>
                <a:gd name="adj" fmla="val 3333"/>
              </a:avLst>
            </a:prstGeom>
            <a:solidFill>
              <a:srgbClr val="152238"/>
            </a:solidFill>
            <a:ln w="19050">
              <a:solidFill>
                <a:srgbClr val="6366F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2480" y="1330642"/>
              <a:ext cx="1631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独立 LLM 判官设计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09625" y="1666875"/>
              <a:ext cx="5048250" cy="476250"/>
            </a:xfrm>
            <a:prstGeom prst="roundRect">
              <a:avLst>
                <a:gd name="adj" fmla="val 12000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6790" y="17440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独立性保证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7742" y="1942624"/>
              <a:ext cx="43283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transcript 只呈现事实（动作+结果+观察+终态），不含 actor 思考/自评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9625" y="2286000"/>
              <a:ext cx="2381250" cy="523875"/>
            </a:xfrm>
            <a:prstGeom prst="roundRect">
              <a:avLst>
                <a:gd name="adj" fmla="val 10909"/>
              </a:avLst>
            </a:prstGeom>
            <a:solidFill>
              <a:srgbClr val="0D1B2A"/>
            </a:solidFill>
            <a:ln w="9525">
              <a:solidFill>
                <a:srgbClr val="22C55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54334" y="2383631"/>
              <a:ext cx="10918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lenient (默认)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08760" y="2617470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抓实质不死抠字面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381375" y="2286000"/>
              <a:ext cx="2476500" cy="523875"/>
            </a:xfrm>
            <a:prstGeom prst="roundRect">
              <a:avLst>
                <a:gd name="adj" fmla="val 10909"/>
              </a:avLst>
            </a:prstGeom>
            <a:solidFill>
              <a:srgbClr val="0D1B2A"/>
            </a:solidFill>
            <a:ln w="9525">
              <a:solidFill>
                <a:srgbClr val="EF444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987073" y="2383631"/>
              <a:ext cx="12651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strict (P6 加固)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59126" y="2617470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逐条核对 + 终态优先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6290" y="2982278"/>
              <a:ext cx="62364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Verdict 结构: { pass, confidence, failedPhase, failedStep, reason, matched[], missed[] }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81750" y="1190625"/>
            <a:ext cx="5238750" cy="2286000"/>
            <a:chOff x="6381750" y="1190625"/>
            <a:chExt cx="5238750" cy="2286000"/>
          </a:xfrm>
        </p:grpSpPr>
        <p:sp>
          <p:nvSpPr>
            <p:cNvPr id="20" name="Rectangle 20"/>
            <p:cNvSpPr/>
            <p:nvPr/>
          </p:nvSpPr>
          <p:spPr>
            <a:xfrm>
              <a:off x="6381750" y="1190625"/>
              <a:ext cx="5238750" cy="2286000"/>
            </a:xfrm>
            <a:prstGeom prst="roundRect">
              <a:avLst>
                <a:gd name="adj" fmla="val 3333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02730" y="1330642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双档判官对比（宽松代价）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9875" y="1666875"/>
              <a:ext cx="2286000" cy="762000"/>
            </a:xfrm>
            <a:prstGeom prst="roundRect">
              <a:avLst>
                <a:gd name="adj" fmla="val 7500"/>
              </a:avLst>
            </a:prstGeom>
            <a:solidFill>
              <a:srgbClr val="0D1B2A"/>
            </a:solidFill>
            <a:ln w="14288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83982" y="1839278"/>
              <a:ext cx="957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lenient 通过率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36226" y="2009775"/>
              <a:ext cx="85329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22C55E"/>
                  </a:solidFill>
                  <a:latin typeface="Arial"/>
                  <a:ea typeface="Arial"/>
                  <a:cs typeface="Arial"/>
                </a:rPr>
                <a:t>46%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144000" y="1666875"/>
              <a:ext cx="2286000" cy="762000"/>
            </a:xfrm>
            <a:prstGeom prst="roundRect">
              <a:avLst>
                <a:gd name="adj" fmla="val 7500"/>
              </a:avLst>
            </a:prstGeom>
            <a:solidFill>
              <a:srgbClr val="0D1B2A"/>
            </a:solidFill>
            <a:ln w="14288">
              <a:solidFill>
                <a:srgbClr val="EF444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29109" y="1839278"/>
              <a:ext cx="915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strict 通过率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60351" y="2009775"/>
              <a:ext cx="85329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EF4444"/>
                  </a:solidFill>
                  <a:latin typeface="Arial"/>
                  <a:ea typeface="Arial"/>
                  <a:cs typeface="Arial"/>
                </a:rPr>
                <a:t>25%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19875" y="2571750"/>
              <a:ext cx="4810125" cy="714375"/>
            </a:xfrm>
            <a:prstGeom prst="roundRect">
              <a:avLst>
                <a:gd name="adj" fmla="val 8000"/>
              </a:avLst>
            </a:prstGeom>
            <a:solidFill>
              <a:srgbClr val="0D1B2A"/>
            </a:solidFill>
            <a:ln w="9525">
              <a:solidFill>
                <a:srgbClr val="F59E0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7040" y="2696528"/>
              <a:ext cx="22025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宽松代价 (30 场景零浏览器重判)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97040" y="29346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strict 误杀 7 个真实通过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48700" y="2886075"/>
              <a:ext cx="6156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-21pp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98945" y="3122295"/>
              <a:ext cx="17750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~2 个真问题 + ~5 个 strict 太严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3667125"/>
            <a:ext cx="11049000" cy="2047875"/>
            <a:chOff x="571500" y="3667125"/>
            <a:chExt cx="11049000" cy="2047875"/>
          </a:xfrm>
        </p:grpSpPr>
        <p:sp>
          <p:nvSpPr>
            <p:cNvPr id="34" name="Rectangle 34"/>
            <p:cNvSpPr/>
            <p:nvPr/>
          </p:nvSpPr>
          <p:spPr>
            <a:xfrm>
              <a:off x="571500" y="3667125"/>
              <a:ext cx="11049000" cy="2047875"/>
            </a:xfrm>
            <a:prstGeom prst="roundRect">
              <a:avLst>
                <a:gd name="adj" fmla="val 3721"/>
              </a:avLst>
            </a:prstGeom>
            <a:solidFill>
              <a:srgbClr val="152238"/>
            </a:solidFill>
            <a:ln w="19050">
              <a:solidFill>
                <a:srgbClr val="F59E0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2480" y="3807142"/>
              <a:ext cx="51662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变异测试 (P5) — 给独立判官打分（被测=判官，app 恒正确）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9625" y="4143375"/>
              <a:ext cx="5143500" cy="1333500"/>
            </a:xfrm>
            <a:prstGeom prst="roundRect">
              <a:avLst>
                <a:gd name="adj" fmla="val 4286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5838" y="4260056"/>
              <a:ext cx="27930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Layer 1: 改 expectation（规格变异）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7742" y="4514374"/>
              <a:ext cx="5101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规则式算子: 取反/实体循环/状态取反/关键字漂移/数值篡改 → 重判官 → Must-Kill 检测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7742" y="4752499"/>
              <a:ext cx="30866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结果: lenient Must-Kill 0% → strict Must-Kill 38%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7742" y="4990624"/>
              <a:ext cx="5205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entity-swap 0→67%, state-swap 0→100%, soft 类 0→75-100%; negate 仍 0% (弱点)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8695" y="5236845"/>
              <a:ext cx="3245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判官「不查规约、查行为; 行为故障检出依赖证据是否冗余」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191250" y="4143375"/>
              <a:ext cx="5191125" cy="1333500"/>
            </a:xfrm>
            <a:prstGeom prst="roundRect">
              <a:avLst>
                <a:gd name="adj" fmla="val 4286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67462" y="4260056"/>
              <a:ext cx="27772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Layer 2: 往轨迹注入故障（轨迹变异）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69368" y="4514374"/>
              <a:ext cx="39642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exec-failure / layout-missing / semantic-flip → 用原场景重判官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69368" y="4752499"/>
              <a:ext cx="1058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E2E8F0"/>
                  </a:solidFill>
                  <a:latin typeface="Arial"/>
                  <a:ea typeface="Arial"/>
                  <a:cs typeface="Arial"/>
                </a:rPr>
                <a:t>Mutation Score: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61045" y="4679632"/>
              <a:ext cx="11739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3/9 (33%)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69368" y="4990624"/>
              <a:ext cx="40552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薄证据场景 (sort/theme/toggle) 100% killed · 富证据多步场景 0%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70320" y="5236845"/>
              <a:ext cx="27652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判官做「多源证据和解」— 单步失败被幸存证据救回</a:t>
              </a:r>
            </a:p>
          </p:txBody>
        </p:sp>
      </p:grpSp>
      <p:sp>
        <p:nvSpPr>
          <p:cNvPr id="50" name="Line 50"/>
          <p:cNvSpPr/>
          <p:nvPr/>
        </p:nvSpPr>
        <p:spPr>
          <a:xfrm>
            <a:off x="571500" y="600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561022" y="6102191"/>
            <a:ext cx="17096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4gaboard_agent_plus · 答辩演示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8572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gradFill>
              <a:gsLst>
                <a:gs pos="0">
                  <a:srgbClr val="3B82F6"/>
                </a:gs>
                <a:gs pos="100000">
                  <a:srgbClr val="6366F1"/>
                </a:gs>
              </a:gsLst>
              <a:lin ang="0" scaled="1"/>
            </a:gradFill>
          </a:ln>
        </p:spPr>
      </p:sp>
      <p:sp>
        <p:nvSpPr>
          <p:cNvPr id="4" name="TextBox 4"/>
          <p:cNvSpPr txBox="1"/>
          <p:nvPr/>
        </p:nvSpPr>
        <p:spPr>
          <a:xfrm>
            <a:off x="539115" y="439102"/>
            <a:ext cx="667009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vs 4gaboard_agent：技术选型对比 (上)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07020" y="379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08 / 12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190625"/>
            <a:ext cx="1524000" cy="381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73147" y="131540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维度</a:t>
            </a:r>
          </a:p>
        </p:txBody>
      </p:sp>
      <p:sp>
        <p:nvSpPr>
          <p:cNvPr id="9" name="Rectangle 9"/>
          <p:cNvSpPr/>
          <p:nvPr/>
        </p:nvSpPr>
        <p:spPr>
          <a:xfrm>
            <a:off x="2190750" y="1190625"/>
            <a:ext cx="4857750" cy="38100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90338" y="1315402"/>
            <a:ext cx="16585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4gaboard_agent (原版)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143750" y="1190625"/>
            <a:ext cx="4476750" cy="38100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618996" y="1315402"/>
            <a:ext cx="15262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59E0B"/>
                </a:solidFill>
                <a:latin typeface="Arial"/>
                <a:ea typeface="Arial"/>
                <a:cs typeface="Arial"/>
              </a:rPr>
              <a:t>4gaboard_agent_plus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1666875"/>
            <a:ext cx="1524000" cy="400050"/>
          </a:xfrm>
          <a:prstGeom prst="rect">
            <a:avLst/>
          </a:prstGeom>
          <a:solidFill>
            <a:srgbClr val="152238"/>
          </a:solidFill>
          <a:ln w="4762">
            <a:solidFill>
              <a:srgbClr val="1E293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116342" y="1809274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主语言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190750" y="1666875"/>
            <a:ext cx="4857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505355" y="1809274"/>
            <a:ext cx="22285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Python 3.13 + LangChain + Pydantic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143750" y="1666875"/>
            <a:ext cx="4476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998071" y="1809274"/>
            <a:ext cx="27681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2C55E"/>
                </a:solidFill>
                <a:latin typeface="Consolas"/>
                <a:ea typeface="Microsoft YaHei"/>
                <a:cs typeface="Consolas"/>
              </a:rPr>
              <a:t>TypeScript + 零框架 (OpenAI SDK 直连) + zod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076450"/>
            <a:ext cx="1524000" cy="400050"/>
          </a:xfrm>
          <a:prstGeom prst="rect">
            <a:avLst/>
          </a:prstGeom>
          <a:solidFill>
            <a:srgbClr val="152238"/>
          </a:solidFill>
          <a:ln w="4762">
            <a:solidFill>
              <a:srgbClr val="1E293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037845" y="2218849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LLM 框架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190750" y="2076450"/>
            <a:ext cx="4857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494478" y="2218849"/>
            <a:ext cx="42502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LangChain (ChatOpenAI + ChromaDB + Callbacks + Tenacity 指数退避)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143750" y="2076450"/>
            <a:ext cx="4476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747790" y="2218849"/>
            <a:ext cx="32686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纯 OpenAI SDK 直连 · 原生 function calling · 无抽象层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2486025"/>
            <a:ext cx="1524000" cy="400050"/>
          </a:xfrm>
          <a:prstGeom prst="rect">
            <a:avLst/>
          </a:prstGeom>
          <a:solidFill>
            <a:srgbClr val="152238"/>
          </a:solidFill>
          <a:ln w="4762">
            <a:solidFill>
              <a:srgbClr val="1E293B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048083" y="26284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检索策略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190750" y="2486025"/>
            <a:ext cx="4857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2858524" y="2628424"/>
            <a:ext cx="35222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RAG (ChromaDB + Qwen3-Embedding-8B + 可选 Reranker)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143750" y="2486025"/>
            <a:ext cx="4476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754291" y="2628424"/>
            <a:ext cx="32556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长上下文直填 (DeepSeek 1M 上下文) · 消除向量库运维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2895600"/>
            <a:ext cx="1524000" cy="400050"/>
          </a:xfrm>
          <a:prstGeom prst="rect">
            <a:avLst/>
          </a:prstGeom>
          <a:solidFill>
            <a:srgbClr val="152238"/>
          </a:solidFill>
          <a:ln w="4762">
            <a:solidFill>
              <a:srgbClr val="1E293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048083" y="303799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数据模型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190750" y="2895600"/>
            <a:ext cx="4857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472851" y="3037999"/>
            <a:ext cx="22935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Pydantic v2 · 扁平结构 · Python 独有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143750" y="2895600"/>
            <a:ext cx="4476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900559" y="3037999"/>
            <a:ext cx="29631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zod v4 · 同构 · 三端共享契约 (生成+Agent+前端)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3305175"/>
            <a:ext cx="1524000" cy="400050"/>
          </a:xfrm>
          <a:prstGeom prst="rect">
            <a:avLst/>
          </a:prstGeom>
          <a:solidFill>
            <a:srgbClr val="152238"/>
          </a:solidFill>
          <a:ln w="4762">
            <a:solidFill>
              <a:srgbClr val="1E293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976412" y="3447574"/>
            <a:ext cx="7141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Agent 模型</a:t>
            </a:r>
          </a:p>
        </p:txBody>
      </p:sp>
      <p:sp>
        <p:nvSpPr>
          <p:cNvPr id="39" name="Rectangle 39"/>
          <p:cNvSpPr/>
          <p:nvPr/>
        </p:nvSpPr>
        <p:spPr>
          <a:xfrm>
            <a:off x="2190750" y="3305175"/>
            <a:ext cx="4857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595241" y="3447574"/>
            <a:ext cx="40487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Planner→Executor→Memory→Verifier 线性管道 (一次性生成全计划)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143750" y="3305175"/>
            <a:ext cx="4476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530013" y="3447574"/>
            <a:ext cx="37042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ReAct 循环 (Observe→Think→Act→Observe... 每步动态决策)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3714750"/>
            <a:ext cx="1524000" cy="400050"/>
          </a:xfrm>
          <a:prstGeom prst="rect">
            <a:avLst/>
          </a:prstGeom>
          <a:solidFill>
            <a:srgbClr val="152238"/>
          </a:solidFill>
          <a:ln w="4762">
            <a:solidFill>
              <a:srgbClr val="1E293B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048083" y="385714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观察空间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190750" y="3714750"/>
            <a:ext cx="4857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2956036" y="3857149"/>
            <a:ext cx="33271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Playwright page state (URL + element 存在性 + text)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143750" y="3714750"/>
            <a:ext cx="4476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7764042" y="3857149"/>
            <a:ext cx="32361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文本可访问性树 (AX tree) + 结构化 ref · 无 VLM 依赖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71500" y="4124325"/>
            <a:ext cx="1524000" cy="400050"/>
          </a:xfrm>
          <a:prstGeom prst="rect">
            <a:avLst/>
          </a:prstGeom>
          <a:solidFill>
            <a:srgbClr val="152238"/>
          </a:solidFill>
          <a:ln w="4762">
            <a:solidFill>
              <a:srgbClr val="1E293B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1048083" y="42667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元素定位</a:t>
            </a:r>
          </a:p>
        </p:txBody>
      </p:sp>
      <p:sp>
        <p:nvSpPr>
          <p:cNvPr id="51" name="Rectangle 51"/>
          <p:cNvSpPr/>
          <p:nvPr/>
        </p:nvSpPr>
        <p:spPr>
          <a:xfrm>
            <a:off x="2190750" y="4124325"/>
            <a:ext cx="4857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2468475" y="4266724"/>
            <a:ext cx="43023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8 种策略 (role/label/placeholder/text/title/name/alt/test-id/CSS)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143750" y="4124325"/>
            <a:ext cx="4476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7744539" y="4266724"/>
            <a:ext cx="32751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基于 AX tree ref 精确引用 · 避免 CSS selector 脆弱性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571500" y="4762500"/>
            <a:ext cx="11049000" cy="952500"/>
            <a:chOff x="571500" y="4762500"/>
            <a:chExt cx="11049000" cy="952500"/>
          </a:xfrm>
        </p:grpSpPr>
        <p:sp>
          <p:nvSpPr>
            <p:cNvPr id="55" name="Rectangle 55"/>
            <p:cNvSpPr/>
            <p:nvPr/>
          </p:nvSpPr>
          <p:spPr>
            <a:xfrm>
              <a:off x="571500" y="4762500"/>
              <a:ext cx="11049000" cy="952500"/>
            </a:xfrm>
            <a:prstGeom prst="roundRect">
              <a:avLst>
                <a:gd name="adj" fmla="val 8000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4385" y="49187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评价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6290" y="51730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plus 版完全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891665" y="5173028"/>
              <a:ext cx="1099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去 LangChain 化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320415" y="5173028"/>
              <a:ext cx="47522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，消除抽象泄漏；长上下文直填消除 RAG 检索噪声和 Embedding 运维成本；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6290" y="5411152"/>
              <a:ext cx="17138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ReAct 循环对比线性管道：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225165" y="5411152"/>
              <a:ext cx="26730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对 UI 多变性和弹窗/异步问题适应性更强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54165" y="5411152"/>
              <a:ext cx="30650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；TypeScript 原生实现前后端一体 + 类型安全。</a:t>
              </a:r>
            </a:p>
          </p:txBody>
        </p:sp>
      </p:grpSp>
      <p:sp>
        <p:nvSpPr>
          <p:cNvPr id="64" name="Line 64"/>
          <p:cNvSpPr/>
          <p:nvPr/>
        </p:nvSpPr>
        <p:spPr>
          <a:xfrm>
            <a:off x="571500" y="600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561022" y="6102191"/>
            <a:ext cx="17096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4gaboard_agent_plus · 答辩演示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8572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gradFill>
              <a:gsLst>
                <a:gs pos="0">
                  <a:srgbClr val="3B82F6"/>
                </a:gs>
                <a:gs pos="100000">
                  <a:srgbClr val="6366F1"/>
                </a:gs>
              </a:gsLst>
              <a:lin ang="0" scaled="1"/>
            </a:gradFill>
          </a:ln>
        </p:spPr>
      </p:sp>
      <p:sp>
        <p:nvSpPr>
          <p:cNvPr id="4" name="TextBox 4"/>
          <p:cNvSpPr txBox="1"/>
          <p:nvPr/>
        </p:nvSpPr>
        <p:spPr>
          <a:xfrm>
            <a:off x="539115" y="439102"/>
            <a:ext cx="667009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vs 4gaboard_agent：技术选型对比 (下)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07020" y="379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09 / 12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1190625"/>
            <a:ext cx="1524000" cy="381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73147" y="131540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维度</a:t>
            </a:r>
          </a:p>
        </p:txBody>
      </p:sp>
      <p:sp>
        <p:nvSpPr>
          <p:cNvPr id="9" name="Rectangle 9"/>
          <p:cNvSpPr/>
          <p:nvPr/>
        </p:nvSpPr>
        <p:spPr>
          <a:xfrm>
            <a:off x="2190750" y="1190625"/>
            <a:ext cx="4857750" cy="38100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90338" y="1315402"/>
            <a:ext cx="16585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4gaboard_agent (原版)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143750" y="1190625"/>
            <a:ext cx="4476750" cy="381000"/>
          </a:xfrm>
          <a:prstGeom prst="roundRect">
            <a:avLst>
              <a:gd name="adj" fmla="val 10000"/>
            </a:avLst>
          </a:prstGeom>
          <a:solidFill>
            <a:srgbClr val="15223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618996" y="1315402"/>
            <a:ext cx="15262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59E0B"/>
                </a:solidFill>
                <a:latin typeface="Arial"/>
                <a:ea typeface="Arial"/>
                <a:cs typeface="Arial"/>
              </a:rPr>
              <a:t>4gaboard_agent_plus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1666875"/>
            <a:ext cx="1524000" cy="571500"/>
          </a:xfrm>
          <a:prstGeom prst="rect">
            <a:avLst/>
          </a:prstGeom>
          <a:solidFill>
            <a:srgbClr val="152238"/>
          </a:solidFill>
          <a:ln w="4762">
            <a:solidFill>
              <a:srgbClr val="1E293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48083" y="189499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工具设计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190750" y="1666875"/>
            <a:ext cx="4857750" cy="57150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289703" y="1799749"/>
            <a:ext cx="46598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9 个 Playwright 操作 (click/fill/navigate/wait/select/check/uncheck...)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80314" y="2009299"/>
            <a:ext cx="28786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无分层 · 无领域工具 · 在底层 DOM 操作级别运行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143750" y="1666875"/>
            <a:ext cx="4476750" cy="57150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215848" y="1799749"/>
            <a:ext cx="23325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27 个工具: 7 通用 + 20 领域 · A/B 双层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00359" y="2009299"/>
            <a:ext cx="21635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选工具效率提升 5-10x (业务语义层)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2247900"/>
            <a:ext cx="1524000" cy="571500"/>
          </a:xfrm>
          <a:prstGeom prst="rect">
            <a:avLst/>
          </a:prstGeom>
          <a:solidFill>
            <a:srgbClr val="152238"/>
          </a:solidFill>
          <a:ln w="4762">
            <a:solidFill>
              <a:srgbClr val="1E293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010541" y="2476024"/>
            <a:ext cx="645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判官/验证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190750" y="2247900"/>
            <a:ext cx="4857750" cy="57150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920282" y="2380774"/>
            <a:ext cx="33986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双阶段: 规则校验 (verification_rules.json) + LLM 判断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33083" y="2590324"/>
            <a:ext cx="257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规则和 LLM 串联 · 共享上下文 · 1 档严格性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143750" y="2247900"/>
            <a:ext cx="4476750" cy="57150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858304" y="2380774"/>
            <a:ext cx="30476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独立 LLM 判官 · 双档 (lenient/strict) · 全走 LLM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45302" y="2590324"/>
            <a:ext cx="30736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完全独立 · 不共享上下文 · 只看事实 · 量化宽松代价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2828925"/>
            <a:ext cx="1524000" cy="400050"/>
          </a:xfrm>
          <a:prstGeom prst="rect">
            <a:avLst/>
          </a:prstGeom>
          <a:solidFill>
            <a:srgbClr val="152238"/>
          </a:solidFill>
          <a:ln w="4762">
            <a:solidFill>
              <a:srgbClr val="1E293B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48083" y="29713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变异测试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190750" y="2828925"/>
            <a:ext cx="4857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542234" y="2971324"/>
            <a:ext cx="1547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无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143750" y="2828925"/>
            <a:ext cx="4476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559266" y="2971324"/>
            <a:ext cx="36457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两层变异测试 (Layer1 spec + Layer2 trace) · 量化判官质量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3238500"/>
            <a:ext cx="1524000" cy="571500"/>
          </a:xfrm>
          <a:prstGeom prst="rect">
            <a:avLst/>
          </a:prstGeom>
          <a:solidFill>
            <a:srgbClr val="152238"/>
          </a:solidFill>
          <a:ln w="4762">
            <a:solidFill>
              <a:srgbClr val="1E293B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84600" y="346662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前端</a:t>
            </a:r>
          </a:p>
        </p:txBody>
      </p:sp>
      <p:sp>
        <p:nvSpPr>
          <p:cNvPr id="37" name="Rectangle 37"/>
          <p:cNvSpPr/>
          <p:nvPr/>
        </p:nvSpPr>
        <p:spPr>
          <a:xfrm>
            <a:off x="2190750" y="3238500"/>
            <a:ext cx="4857750" cy="57150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30795" y="3371374"/>
            <a:ext cx="31776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FastAPI + Jinja2 模板 · 服务端轮询 · 默认 CSS · 单页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817394" y="3580924"/>
            <a:ext cx="16044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无轨迹可视化 · 无批量报告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143750" y="3238500"/>
            <a:ext cx="4476750" cy="57150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7819299" y="3371374"/>
            <a:ext cx="31256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Vite + React 18 + Hono SSE · 三列看板 + 牛皮纸皮肤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20061" y="3580924"/>
            <a:ext cx="29241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实时 ReAct 轨迹 + Verdict badge · 卡式批量报告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3819525"/>
            <a:ext cx="1524000" cy="400050"/>
          </a:xfrm>
          <a:prstGeom prst="rect">
            <a:avLst/>
          </a:prstGeom>
          <a:solidFill>
            <a:srgbClr val="152238"/>
          </a:solidFill>
          <a:ln w="4762">
            <a:solidFill>
              <a:srgbClr val="1E293B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048083" y="39619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状态隔离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190750" y="3819525"/>
            <a:ext cx="4857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352586" y="3961924"/>
            <a:ext cx="25340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无命名空间隔离 · 无状态恢复 · 无并发控制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143750" y="3819525"/>
            <a:ext cx="4476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7504009" y="3961924"/>
            <a:ext cx="37562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namespace 机制 + REST 清理 + resetState + 全局 in-flight 锁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71500" y="4229100"/>
            <a:ext cx="1524000" cy="400050"/>
          </a:xfrm>
          <a:prstGeom prst="rect">
            <a:avLst/>
          </a:prstGeom>
          <a:solidFill>
            <a:srgbClr val="152238"/>
          </a:solidFill>
          <a:ln w="4762">
            <a:solidFill>
              <a:srgbClr val="1E293B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1048083" y="4371499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轨迹复用</a:t>
            </a:r>
          </a:p>
        </p:txBody>
      </p:sp>
      <p:sp>
        <p:nvSpPr>
          <p:cNvPr id="51" name="Rectangle 51"/>
          <p:cNvSpPr/>
          <p:nvPr/>
        </p:nvSpPr>
        <p:spPr>
          <a:xfrm>
            <a:off x="2190750" y="4229100"/>
            <a:ext cx="4857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135934" y="4371499"/>
            <a:ext cx="9673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无 (1 跑 = 1 判)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143750" y="4229100"/>
            <a:ext cx="4476750" cy="400050"/>
          </a:xfrm>
          <a:prstGeom prst="rect">
            <a:avLst/>
          </a:prstGeom>
          <a:solidFill>
            <a:srgbClr val="0D1B2A"/>
          </a:solidFill>
          <a:ln w="4762">
            <a:solidFill>
              <a:srgbClr val="1E293B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7994821" y="4371499"/>
            <a:ext cx="27746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1 次真跑 + N 次重判 · 省浏览器开销 · 隔离判官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571500" y="4857750"/>
            <a:ext cx="11049000" cy="857250"/>
            <a:chOff x="571500" y="4857750"/>
            <a:chExt cx="11049000" cy="857250"/>
          </a:xfrm>
        </p:grpSpPr>
        <p:sp>
          <p:nvSpPr>
            <p:cNvPr id="55" name="Rectangle 55"/>
            <p:cNvSpPr/>
            <p:nvPr/>
          </p:nvSpPr>
          <p:spPr>
            <a:xfrm>
              <a:off x="571500" y="4857750"/>
              <a:ext cx="11049000" cy="857250"/>
            </a:xfrm>
            <a:prstGeom prst="roundRect">
              <a:avLst>
                <a:gd name="adj" fmla="val 8889"/>
              </a:avLst>
            </a:prstGeom>
            <a:solidFill>
              <a:srgbClr val="152238"/>
            </a:solidFill>
            <a:ln w="19050">
              <a:solidFill>
                <a:srgbClr val="F59E0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4385" y="50139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评价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6290" y="5268278"/>
              <a:ext cx="621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plus 版从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748790" y="52682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课程原型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701290" y="5268278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演进为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368040" y="52682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完整交付产品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11040" y="5268278"/>
              <a:ext cx="922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：27 工具体系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654040" y="5268278"/>
              <a:ext cx="32831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+ 独立双档判官 + 变异测试 + React SSE 实时看板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49665" y="5268278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。从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83040" y="5268278"/>
              <a:ext cx="482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"能跑"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11665" y="5268278"/>
              <a:ext cx="1666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749790" y="5268278"/>
              <a:ext cx="482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"能评"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78415" y="5268278"/>
              <a:ext cx="1666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7242" y="5514499"/>
              <a:ext cx="46143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详见 /Users/lively/projects/diff.md — 11 个维度的完整技术选型与方法对比</a:t>
              </a:r>
            </a:p>
          </p:txBody>
        </p:sp>
      </p:grpSp>
      <p:sp>
        <p:nvSpPr>
          <p:cNvPr id="70" name="Line 70"/>
          <p:cNvSpPr/>
          <p:nvPr/>
        </p:nvSpPr>
        <p:spPr>
          <a:xfrm>
            <a:off x="571500" y="600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561022" y="6102191"/>
            <a:ext cx="17096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4gaboard_agent_plus · 答辩演示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8572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gradFill>
              <a:gsLst>
                <a:gs pos="0">
                  <a:srgbClr val="3B82F6"/>
                </a:gs>
                <a:gs pos="100000">
                  <a:srgbClr val="6366F1"/>
                </a:gs>
              </a:gsLst>
              <a:lin ang="0" scaled="1"/>
            </a:gradFill>
          </a:ln>
        </p:spPr>
      </p:sp>
      <p:sp>
        <p:nvSpPr>
          <p:cNvPr id="4" name="TextBox 4"/>
          <p:cNvSpPr txBox="1"/>
          <p:nvPr/>
        </p:nvSpPr>
        <p:spPr>
          <a:xfrm>
            <a:off x="537210" y="422910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实验结果与关键指标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07020" y="379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 / 12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571500" y="1190625"/>
            <a:ext cx="3619500" cy="1905000"/>
            <a:chOff x="571500" y="1190625"/>
            <a:chExt cx="3619500" cy="1905000"/>
          </a:xfrm>
        </p:grpSpPr>
        <p:sp>
          <p:nvSpPr>
            <p:cNvPr id="7" name="Rectangle 7"/>
            <p:cNvSpPr/>
            <p:nvPr/>
          </p:nvSpPr>
          <p:spPr>
            <a:xfrm>
              <a:off x="571500" y="1190625"/>
              <a:ext cx="3619500" cy="1905000"/>
            </a:xfrm>
            <a:prstGeom prst="roundRect">
              <a:avLst>
                <a:gd name="adj" fmla="val 4000"/>
              </a:avLst>
            </a:prstGeom>
            <a:solidFill>
              <a:srgbClr val="152238"/>
            </a:solidFill>
            <a:ln w="19050">
              <a:solidFill>
                <a:srgbClr val="3B82F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2480" y="1330642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任务一：场景生成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09625" y="1666875"/>
              <a:ext cx="3143250" cy="400050"/>
            </a:xfrm>
            <a:prstGeom prst="roundRect">
              <a:avLst>
                <a:gd name="adj" fmla="val 14286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6790" y="1724978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功能点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02919" y="1611630"/>
              <a:ext cx="538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10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118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9625" y="2143125"/>
              <a:ext cx="3143250" cy="400050"/>
            </a:xfrm>
            <a:prstGeom prst="roundRect">
              <a:avLst>
                <a:gd name="adj" fmla="val 14286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6790" y="22012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测试场景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02919" y="2087880"/>
              <a:ext cx="538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10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179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2619375"/>
              <a:ext cx="3143250" cy="400050"/>
            </a:xfrm>
            <a:prstGeom prst="roundRect">
              <a:avLst>
                <a:gd name="adj" fmla="val 14286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6790" y="267747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功能覆盖率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82392" y="2564130"/>
              <a:ext cx="7590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100%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81500" y="1190625"/>
            <a:ext cx="3619500" cy="1905000"/>
            <a:chOff x="4381500" y="1190625"/>
            <a:chExt cx="3619500" cy="1905000"/>
          </a:xfrm>
        </p:grpSpPr>
        <p:sp>
          <p:nvSpPr>
            <p:cNvPr id="19" name="Rectangle 19"/>
            <p:cNvSpPr/>
            <p:nvPr/>
          </p:nvSpPr>
          <p:spPr>
            <a:xfrm>
              <a:off x="4381500" y="1190625"/>
              <a:ext cx="3619500" cy="1905000"/>
            </a:xfrm>
            <a:prstGeom prst="roundRect">
              <a:avLst>
                <a:gd name="adj" fmla="val 4000"/>
              </a:avLst>
            </a:prstGeom>
            <a:solidFill>
              <a:srgbClr val="152238"/>
            </a:solidFill>
            <a:ln w="19050">
              <a:solidFill>
                <a:srgbClr val="6366F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02480" y="1330642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任务二：通过率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619625" y="1666875"/>
              <a:ext cx="3143250" cy="400050"/>
            </a:xfrm>
            <a:prstGeom prst="roundRect">
              <a:avLst>
                <a:gd name="adj" fmla="val 14286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96790" y="1724978"/>
              <a:ext cx="1853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基线 (30 easy+happy_path)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54112" y="1611630"/>
              <a:ext cx="59730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10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43%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19625" y="2143125"/>
              <a:ext cx="3143250" cy="400050"/>
            </a:xfrm>
            <a:prstGeom prst="roundRect">
              <a:avLst>
                <a:gd name="adj" fmla="val 14286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96790" y="2201228"/>
              <a:ext cx="1727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可测场景 (去 instance 簇)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92392" y="2087880"/>
              <a:ext cx="7590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~80%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619625" y="2619375"/>
              <a:ext cx="3143250" cy="400050"/>
            </a:xfrm>
            <a:prstGeom prst="roundRect">
              <a:avLst>
                <a:gd name="adj" fmla="val 14286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96790" y="2677478"/>
              <a:ext cx="13218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Settings 簇 (P4 后)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54112" y="2564130"/>
              <a:ext cx="59730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84%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91500" y="1190625"/>
            <a:ext cx="3429000" cy="1905000"/>
            <a:chOff x="8191500" y="1190625"/>
            <a:chExt cx="3429000" cy="1905000"/>
          </a:xfrm>
        </p:grpSpPr>
        <p:sp>
          <p:nvSpPr>
            <p:cNvPr id="31" name="Rectangle 31"/>
            <p:cNvSpPr/>
            <p:nvPr/>
          </p:nvSpPr>
          <p:spPr>
            <a:xfrm>
              <a:off x="8191500" y="1190625"/>
              <a:ext cx="3429000" cy="1905000"/>
            </a:xfrm>
            <a:prstGeom prst="roundRect">
              <a:avLst>
                <a:gd name="adj" fmla="val 4000"/>
              </a:avLst>
            </a:prstGeom>
            <a:solidFill>
              <a:srgbClr val="152238"/>
            </a:solidFill>
            <a:ln w="9525">
              <a:solidFill>
                <a:srgbClr val="1E293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12480" y="133064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通过率分布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29625" y="1666875"/>
              <a:ext cx="2952750" cy="304800"/>
            </a:xfrm>
            <a:prstGeom prst="roundRect">
              <a:avLst>
                <a:gd name="adj" fmla="val 12500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07742" y="1761649"/>
              <a:ext cx="5513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Board 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29665" y="1753552"/>
              <a:ext cx="827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5/5 (100%)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29625" y="2028825"/>
              <a:ext cx="2952750" cy="304800"/>
            </a:xfrm>
            <a:prstGeom prst="roundRect">
              <a:avLst>
                <a:gd name="adj" fmla="val 12500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07742" y="21235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Admin 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29665" y="2115502"/>
              <a:ext cx="827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3/3 (100%)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29625" y="2390775"/>
              <a:ext cx="2952750" cy="304800"/>
            </a:xfrm>
            <a:prstGeom prst="roundRect">
              <a:avLst>
                <a:gd name="adj" fmla="val 12500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07742" y="2485549"/>
              <a:ext cx="6943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Account 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329665" y="2477452"/>
              <a:ext cx="827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1/1 (100%)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429625" y="2752725"/>
              <a:ext cx="2952750" cy="304800"/>
            </a:xfrm>
            <a:prstGeom prst="roundRect">
              <a:avLst>
                <a:gd name="adj" fmla="val 12500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607742" y="2847499"/>
              <a:ext cx="11429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E2E8F0"/>
                  </a:solidFill>
                  <a:latin typeface="Arial"/>
                  <a:ea typeface="Arial"/>
                  <a:cs typeface="Arial"/>
                </a:rPr>
                <a:t>Instance Settings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13575" y="2839402"/>
              <a:ext cx="11440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EF4444"/>
                  </a:solidFill>
                  <a:latin typeface="Consolas"/>
                  <a:ea typeface="Microsoft YaHei"/>
                  <a:cs typeface="Consolas"/>
                </a:rPr>
                <a:t>0/13 (环境限制)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3286125"/>
            <a:ext cx="3619500" cy="2047875"/>
            <a:chOff x="571500" y="3286125"/>
            <a:chExt cx="3619500" cy="2047875"/>
          </a:xfrm>
        </p:grpSpPr>
        <p:sp>
          <p:nvSpPr>
            <p:cNvPr id="46" name="Rectangle 46"/>
            <p:cNvSpPr/>
            <p:nvPr/>
          </p:nvSpPr>
          <p:spPr>
            <a:xfrm>
              <a:off x="571500" y="3286125"/>
              <a:ext cx="3619500" cy="1905000"/>
            </a:xfrm>
            <a:prstGeom prst="roundRect">
              <a:avLst>
                <a:gd name="adj" fmla="val 4000"/>
              </a:avLst>
            </a:prstGeom>
            <a:solidFill>
              <a:srgbClr val="152238"/>
            </a:solidFill>
            <a:ln w="19050">
              <a:solidFill>
                <a:srgbClr val="F59E0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92480" y="3426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变异测试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6290" y="374427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Arial"/>
                  <a:ea typeface="Arial"/>
                  <a:cs typeface="Arial"/>
                </a:rPr>
                <a:t>Layer2 Mutation Score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5335" y="3851910"/>
              <a:ext cx="7679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33%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7242" y="4276249"/>
              <a:ext cx="15134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薄证据 100% · 富证据 0%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7242" y="4514374"/>
              <a:ext cx="798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3/9 总杀灭率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09625" y="4762500"/>
              <a:ext cx="3143250" cy="1905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96290" y="4887278"/>
              <a:ext cx="1769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Arial"/>
                  <a:ea typeface="Arial"/>
                  <a:cs typeface="Arial"/>
                </a:rPr>
                <a:t>Layer1 Must-Kill (strict)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0575" y="5029200"/>
              <a:ext cx="94121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0% → 38%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381500" y="3286125"/>
            <a:ext cx="3619500" cy="1905000"/>
            <a:chOff x="4381500" y="3286125"/>
            <a:chExt cx="3619500" cy="1905000"/>
          </a:xfrm>
        </p:grpSpPr>
        <p:sp>
          <p:nvSpPr>
            <p:cNvPr id="56" name="Rectangle 56"/>
            <p:cNvSpPr/>
            <p:nvPr/>
          </p:nvSpPr>
          <p:spPr>
            <a:xfrm>
              <a:off x="4381500" y="3286125"/>
              <a:ext cx="3619500" cy="1905000"/>
            </a:xfrm>
            <a:prstGeom prst="roundRect">
              <a:avLst>
                <a:gd name="adj" fmla="val 4000"/>
              </a:avLst>
            </a:prstGeom>
            <a:solidFill>
              <a:srgbClr val="152238"/>
            </a:solidFill>
            <a:ln w="19050">
              <a:solidFill>
                <a:srgbClr val="EF444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602480" y="34261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双档判官对比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619625" y="3762375"/>
              <a:ext cx="3143250" cy="361950"/>
            </a:xfrm>
            <a:prstGeom prst="roundRect">
              <a:avLst>
                <a:gd name="adj" fmla="val 10526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796790" y="38871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lenient 真实 PASS 率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76392" y="3822382"/>
              <a:ext cx="4693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6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46%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619625" y="4191000"/>
              <a:ext cx="3143250" cy="361950"/>
            </a:xfrm>
            <a:prstGeom prst="roundRect">
              <a:avLst>
                <a:gd name="adj" fmla="val 10526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796790" y="4315778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strict 真实 PASS 率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76392" y="4251008"/>
              <a:ext cx="4693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650" b="1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25%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619625" y="4619625"/>
              <a:ext cx="3143250" cy="457200"/>
            </a:xfrm>
            <a:prstGeom prst="roundRect">
              <a:avLst>
                <a:gd name="adj" fmla="val 8333"/>
              </a:avLst>
            </a:prstGeom>
            <a:solidFill>
              <a:srgbClr val="0D1B2A"/>
            </a:solidFill>
            <a:ln w="9525">
              <a:solidFill>
                <a:srgbClr val="F59E0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796790" y="47253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严格性代价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796790" y="49158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误杀 7 个真通过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68466" y="4851082"/>
              <a:ext cx="6772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650" b="1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-21pp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191500" y="3286125"/>
            <a:ext cx="3429000" cy="1905000"/>
            <a:chOff x="8191500" y="3286125"/>
            <a:chExt cx="3429000" cy="1905000"/>
          </a:xfrm>
        </p:grpSpPr>
        <p:sp>
          <p:nvSpPr>
            <p:cNvPr id="69" name="Rectangle 69"/>
            <p:cNvSpPr/>
            <p:nvPr/>
          </p:nvSpPr>
          <p:spPr>
            <a:xfrm>
              <a:off x="8191500" y="3286125"/>
              <a:ext cx="3429000" cy="1905000"/>
            </a:xfrm>
            <a:prstGeom prst="roundRect">
              <a:avLst>
                <a:gd name="adj" fmla="val 4000"/>
              </a:avLst>
            </a:prstGeom>
            <a:solidFill>
              <a:srgbClr val="152238"/>
            </a:solidFill>
            <a:ln w="19050">
              <a:solidFill>
                <a:srgbClr val="22C55E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412480" y="34261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规模与工程化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429625" y="3762375"/>
              <a:ext cx="2952750" cy="304800"/>
            </a:xfrm>
            <a:prstGeom prst="roundRect">
              <a:avLst>
                <a:gd name="adj" fmla="val 12500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607742" y="38571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领域工具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969195" y="384905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20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429625" y="4124325"/>
              <a:ext cx="2952750" cy="304800"/>
            </a:xfrm>
            <a:prstGeom prst="roundRect">
              <a:avLst>
                <a:gd name="adj" fmla="val 12500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607742" y="4219099"/>
              <a:ext cx="11429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源代码文件 (~80+)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344367" y="4211002"/>
              <a:ext cx="813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vs 原版 ~30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429625" y="4486275"/>
              <a:ext cx="2952750" cy="304800"/>
            </a:xfrm>
            <a:prstGeom prst="roundRect">
              <a:avLst>
                <a:gd name="adj" fmla="val 12500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607742" y="45810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LLM Provider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866557" y="4572952"/>
              <a:ext cx="1291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DeepSeek V4 Flash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429625" y="4848225"/>
              <a:ext cx="2952750" cy="304800"/>
            </a:xfrm>
            <a:prstGeom prst="roundRect">
              <a:avLst>
                <a:gd name="adj" fmla="val 12500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607742" y="49429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判官档位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734240" y="4934902"/>
              <a:ext cx="14233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2 (lenient + strict)</a:t>
              </a:r>
            </a:p>
          </p:txBody>
        </p:sp>
      </p:grpSp>
      <p:sp>
        <p:nvSpPr>
          <p:cNvPr id="84" name="Line 84"/>
          <p:cNvSpPr/>
          <p:nvPr/>
        </p:nvSpPr>
        <p:spPr>
          <a:xfrm>
            <a:off x="571500" y="600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561022" y="6102191"/>
            <a:ext cx="17096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4gaboard_agent_plus · 答辩演示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8572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gradFill>
              <a:gsLst>
                <a:gs pos="0">
                  <a:srgbClr val="3B82F6"/>
                </a:gs>
                <a:gs pos="100000">
                  <a:srgbClr val="6366F1"/>
                </a:gs>
              </a:gsLst>
              <a:lin ang="0" scaled="1"/>
            </a:gradFill>
          </a:ln>
        </p:spPr>
      </p:sp>
      <p:sp>
        <p:nvSpPr>
          <p:cNvPr id="4" name="TextBox 4"/>
          <p:cNvSpPr txBox="1"/>
          <p:nvPr/>
        </p:nvSpPr>
        <p:spPr>
          <a:xfrm>
            <a:off x="537210" y="422910"/>
            <a:ext cx="195881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创新点总结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07020" y="379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 / 12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571500" y="1238250"/>
            <a:ext cx="5600104" cy="2250281"/>
            <a:chOff x="571500" y="1238250"/>
            <a:chExt cx="5600104" cy="2250281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429250" cy="2190750"/>
            </a:xfrm>
            <a:prstGeom prst="roundRect">
              <a:avLst>
                <a:gd name="adj" fmla="val 4348"/>
              </a:avLst>
            </a:prstGeom>
            <a:solidFill>
              <a:srgbClr val="152238"/>
            </a:solidFill>
            <a:ln w="19050">
              <a:solidFill>
                <a:srgbClr val="3B82F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71500" cy="2190750"/>
            </a:xfrm>
            <a:prstGeom prst="roundRect">
              <a:avLst>
                <a:gd name="adj" fmla="val 16667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1238250"/>
              <a:ext cx="190500" cy="21907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 rot="-5400000">
              <a:off x="626707" y="1899285"/>
              <a:ext cx="4306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D1B2A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0170" y="1441132"/>
              <a:ext cx="16937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docs → tools 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67790" y="1791652"/>
              <a:ext cx="3772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任务一的 118 个功能点自动脚手架为任务二的领域工具 stub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68742" y="2037874"/>
              <a:ext cx="4802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name ← feature id · params ← key_elements 推导 · Playwright handler 人工补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81125" y="2381250"/>
              <a:ext cx="4381500" cy="381000"/>
            </a:xfrm>
            <a:prstGeom prst="roundRect">
              <a:avLst>
                <a:gd name="adj" fmla="val 15000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59242" y="2418874"/>
              <a:ext cx="284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效果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40242" y="2418874"/>
              <a:ext cx="16834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生成端 → 执行端的干净闭环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60195" y="2598420"/>
              <a:ext cx="29992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选工具效率从底层 DOM 操作提升到业务语义层 (5-10x)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69695" y="2998470"/>
              <a:ext cx="2058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任务一输出 → 任务二输入：直接闭环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667000" y="31432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4288">
              <a:solidFill>
                <a:srgbClr val="3B82F6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2619375" y="3286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47625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B82F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304479" y="3320891"/>
              <a:ext cx="7250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Tool Scaffold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86500" y="1238250"/>
            <a:ext cx="5334000" cy="2257425"/>
            <a:chOff x="6286500" y="1238250"/>
            <a:chExt cx="5334000" cy="2257425"/>
          </a:xfrm>
        </p:grpSpPr>
        <p:sp>
          <p:nvSpPr>
            <p:cNvPr id="23" name="Rectangle 23"/>
            <p:cNvSpPr/>
            <p:nvPr/>
          </p:nvSpPr>
          <p:spPr>
            <a:xfrm>
              <a:off x="6286500" y="1238250"/>
              <a:ext cx="5334000" cy="2190750"/>
            </a:xfrm>
            <a:prstGeom prst="roundRect">
              <a:avLst>
                <a:gd name="adj" fmla="val 4348"/>
              </a:avLst>
            </a:prstGeom>
            <a:solidFill>
              <a:srgbClr val="152238"/>
            </a:solidFill>
            <a:ln w="19050">
              <a:solidFill>
                <a:srgbClr val="6366F1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38250"/>
              <a:ext cx="571500" cy="2190750"/>
            </a:xfrm>
            <a:prstGeom prst="roundRect">
              <a:avLst>
                <a:gd name="adj" fmla="val 16667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0" y="1238250"/>
              <a:ext cx="190500" cy="2190750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 rot="-5400000">
              <a:off x="6341707" y="1899285"/>
              <a:ext cx="4306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2E8F0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75170" y="1441132"/>
              <a:ext cx="33918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独立判官 + 变异测试评估 oracle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82790" y="1791652"/>
              <a:ext cx="32610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用变异测试给判官打分（被测 = 判官，app 恒正确）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83742" y="2037874"/>
              <a:ext cx="26250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把「判官准不准」从主观感觉变为可量化测试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096125" y="2381250"/>
              <a:ext cx="4286250" cy="381000"/>
            </a:xfrm>
            <a:prstGeom prst="roundRect">
              <a:avLst>
                <a:gd name="adj" fmla="val 15000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74242" y="2418874"/>
              <a:ext cx="284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效果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55242" y="2418874"/>
              <a:ext cx="36151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22C55E"/>
                  </a:solidFill>
                  <a:latin typeface="Arial"/>
                  <a:ea typeface="Arial"/>
                  <a:cs typeface="Arial"/>
                </a:rPr>
                <a:t>Layer2 Mutation Score 33% · Layer1 Must-Kill 0%→38%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75195" y="2598420"/>
              <a:ext cx="31432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判官结论：不查规约、查行为；行为故障检出依赖证据冗余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286625" y="2905125"/>
              <a:ext cx="762000" cy="266700"/>
            </a:xfrm>
            <a:prstGeom prst="roundRect">
              <a:avLst>
                <a:gd name="adj" fmla="val 14286"/>
              </a:avLst>
            </a:prstGeom>
            <a:solidFill>
              <a:srgbClr val="0D1B2A"/>
            </a:solidFill>
            <a:ln w="9525">
              <a:solidFill>
                <a:srgbClr val="3B82F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66599" y="299704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3B82F6"/>
                  </a:solidFill>
                  <a:latin typeface="Arial"/>
                  <a:ea typeface="Microsoft YaHei"/>
                  <a:cs typeface="Arial"/>
                </a:rPr>
                <a:t>改 expectation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24825" y="2924175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29625" y="2905125"/>
              <a:ext cx="762000" cy="266700"/>
            </a:xfrm>
            <a:prstGeom prst="roundRect">
              <a:avLst>
                <a:gd name="adj" fmla="val 14286"/>
              </a:avLst>
            </a:prstGeom>
            <a:solidFill>
              <a:srgbClr val="0D1B2A"/>
            </a:solidFill>
            <a:ln w="9525">
              <a:solidFill>
                <a:srgbClr val="6366F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35127" y="2997041"/>
              <a:ext cx="3509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重判官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67825" y="2924175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572625" y="2905125"/>
              <a:ext cx="762000" cy="266700"/>
            </a:xfrm>
            <a:prstGeom prst="roundRect">
              <a:avLst>
                <a:gd name="adj" fmla="val 14286"/>
              </a:avLst>
            </a:prstGeom>
            <a:solidFill>
              <a:srgbClr val="0D1B2A"/>
            </a:solidFill>
            <a:ln w="9525">
              <a:solidFill>
                <a:srgbClr val="22C55E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670863" y="2997041"/>
              <a:ext cx="56552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2C55E"/>
                  </a:solidFill>
                  <a:latin typeface="Arial"/>
                  <a:ea typeface="Arial"/>
                  <a:cs typeface="Arial"/>
                </a:rPr>
                <a:t>Must-Kill?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75195" y="3312795"/>
              <a:ext cx="2303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创新地让判官成为可评估的组件，而非黑盒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3619500"/>
            <a:ext cx="5502592" cy="1826419"/>
            <a:chOff x="571500" y="3619500"/>
            <a:chExt cx="5502592" cy="1826419"/>
          </a:xfrm>
        </p:grpSpPr>
        <p:sp>
          <p:nvSpPr>
            <p:cNvPr id="44" name="Rectangle 44"/>
            <p:cNvSpPr/>
            <p:nvPr/>
          </p:nvSpPr>
          <p:spPr>
            <a:xfrm>
              <a:off x="571500" y="3619500"/>
              <a:ext cx="5429250" cy="1809750"/>
            </a:xfrm>
            <a:prstGeom prst="roundRect">
              <a:avLst>
                <a:gd name="adj" fmla="val 5263"/>
              </a:avLst>
            </a:prstGeom>
            <a:solidFill>
              <a:srgbClr val="152238"/>
            </a:solidFill>
            <a:ln w="19050">
              <a:solidFill>
                <a:srgbClr val="F59E0B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1500" y="3619500"/>
              <a:ext cx="571500" cy="1809750"/>
            </a:xfrm>
            <a:prstGeom prst="roundRect">
              <a:avLst>
                <a:gd name="adj" fmla="val 16667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52500" y="3619500"/>
              <a:ext cx="190500" cy="1809750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 rot="-5400000">
              <a:off x="626707" y="4280535"/>
              <a:ext cx="4306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D1B2A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60170" y="3822382"/>
              <a:ext cx="23521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双档判官量化宽松代价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67790" y="4172902"/>
              <a:ext cx="36531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lenient vs strict：trade-off 三角 (通过率 ↔ 规约敏感)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381125" y="4476750"/>
              <a:ext cx="2190750" cy="381000"/>
            </a:xfrm>
            <a:prstGeom prst="roundRect">
              <a:avLst>
                <a:gd name="adj" fmla="val 15000"/>
              </a:avLst>
            </a:prstGeom>
            <a:solidFill>
              <a:srgbClr val="0D1B2A"/>
            </a:solidFill>
            <a:ln w="9525">
              <a:solidFill>
                <a:srgbClr val="22C55E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808583" y="4553902"/>
              <a:ext cx="1335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lenient: 46% 通过率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907703" y="4721066"/>
              <a:ext cx="11375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高通过率 · 零规约敏感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714750" y="4476750"/>
              <a:ext cx="2047875" cy="381000"/>
            </a:xfrm>
            <a:prstGeom prst="roundRect">
              <a:avLst>
                <a:gd name="adj" fmla="val 15000"/>
              </a:avLst>
            </a:prstGeom>
            <a:solidFill>
              <a:srgbClr val="0D1B2A"/>
            </a:solidFill>
            <a:ln w="9525">
              <a:solidFill>
                <a:srgbClr val="EF444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096536" y="4553902"/>
              <a:ext cx="1293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strict: 25% 通过率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116895" y="4721066"/>
              <a:ext cx="12531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有规约敏感 · -21pp 误杀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368742" y="5038249"/>
              <a:ext cx="4705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量化得出：lenient 高通过率但零规约敏感；strict 有规约敏感但误杀真实通过。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368742" y="5247799"/>
              <a:ext cx="24170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trade-off 三角 = 宽松代价的量化交付。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286500" y="3619500"/>
            <a:ext cx="5922311" cy="1826419"/>
            <a:chOff x="6286500" y="3619500"/>
            <a:chExt cx="5922311" cy="1826419"/>
          </a:xfrm>
        </p:grpSpPr>
        <p:sp>
          <p:nvSpPr>
            <p:cNvPr id="59" name="Rectangle 59"/>
            <p:cNvSpPr/>
            <p:nvPr/>
          </p:nvSpPr>
          <p:spPr>
            <a:xfrm>
              <a:off x="6286500" y="3619500"/>
              <a:ext cx="5334000" cy="1809750"/>
            </a:xfrm>
            <a:prstGeom prst="roundRect">
              <a:avLst>
                <a:gd name="adj" fmla="val 5263"/>
              </a:avLst>
            </a:prstGeom>
            <a:solidFill>
              <a:srgbClr val="152238"/>
            </a:solidFill>
            <a:ln w="19050">
              <a:solidFill>
                <a:srgbClr val="22C55E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86500" y="3619500"/>
              <a:ext cx="571500" cy="1809750"/>
            </a:xfrm>
            <a:prstGeom prst="roundRect">
              <a:avLst>
                <a:gd name="adj" fmla="val 1666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67500" y="3619500"/>
              <a:ext cx="190500" cy="1809750"/>
            </a:xfrm>
            <a:prstGeom prst="rect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 rot="-5400000">
              <a:off x="6341707" y="4280535"/>
              <a:ext cx="4306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D1B2A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75170" y="38223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复用轨迹模型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82790" y="4172902"/>
              <a:ext cx="3366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1 次真跑 + N 次重判：隔离判官，省浏览器和时间开销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096125" y="4476750"/>
              <a:ext cx="4286250" cy="428625"/>
            </a:xfrm>
            <a:prstGeom prst="roundRect">
              <a:avLst>
                <a:gd name="adj" fmla="val 13333"/>
              </a:avLst>
            </a:prstGeom>
            <a:solidFill>
              <a:srgbClr val="0D1B2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74242" y="4561999"/>
              <a:ext cx="3563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用途: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50492" y="4561999"/>
              <a:ext cx="4458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变异测试 (Layer2 轨迹注入后重判) · Judge Cost 实验 (不同判官同一轨迹)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275195" y="4741545"/>
              <a:ext cx="3749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30 场景零浏览器重判 → 一键得出 lenient vs strict 真实 PASS 率对比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83742" y="5038249"/>
              <a:ext cx="38472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保存一次 Playwright 执行轨迹 → 后续无限次重判（纯 LLM 调用）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83742" y="5247799"/>
              <a:ext cx="32751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省掉所有浏览器操作开销，使大规模判官评估成为可能。</a:t>
              </a:r>
            </a:p>
          </p:txBody>
        </p:sp>
      </p:grpSp>
      <p:sp>
        <p:nvSpPr>
          <p:cNvPr id="72" name="Line 72"/>
          <p:cNvSpPr/>
          <p:nvPr/>
        </p:nvSpPr>
        <p:spPr>
          <a:xfrm>
            <a:off x="571500" y="600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561022" y="6102191"/>
            <a:ext cx="17096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4gaboard_agent_plus · 答辩演示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5F">
                  <a:alpha val="30000"/>
                </a:srgbClr>
              </a:gs>
              <a:gs pos="100000">
                <a:srgbClr val="0D1B2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571500" y="8572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gradFill>
              <a:gsLst>
                <a:gs pos="0">
                  <a:srgbClr val="3B82F6"/>
                </a:gs>
                <a:gs pos="100000">
                  <a:srgbClr val="6366F1"/>
                </a:gs>
              </a:gsLst>
              <a:lin ang="0" scaled="1"/>
            </a:gradFill>
          </a:ln>
        </p:spPr>
      </p:sp>
      <p:sp>
        <p:nvSpPr>
          <p:cNvPr id="5" name="TextBox 5"/>
          <p:cNvSpPr txBox="1"/>
          <p:nvPr/>
        </p:nvSpPr>
        <p:spPr>
          <a:xfrm>
            <a:off x="537210" y="422910"/>
            <a:ext cx="195881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07020" y="379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 / 12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00012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571500" y="1238250"/>
            <a:ext cx="5334000" cy="2762250"/>
            <a:chOff x="571500" y="1238250"/>
            <a:chExt cx="5334000" cy="2762250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2762250"/>
            </a:xfrm>
            <a:prstGeom prst="roundRect">
              <a:avLst>
                <a:gd name="adj" fmla="val 2759"/>
              </a:avLst>
            </a:prstGeom>
            <a:solidFill>
              <a:srgbClr val="152238"/>
            </a:solidFill>
            <a:ln w="19050">
              <a:solidFill>
                <a:srgbClr val="22C55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8670" y="139350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核心成果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62000" y="1838325"/>
              <a:ext cx="95250" cy="952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5838" y="1812131"/>
              <a:ext cx="33139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任务一：118 功能点 / 179 场景 / 100% 功能覆盖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171700"/>
              <a:ext cx="95250" cy="952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5838" y="2145506"/>
              <a:ext cx="35540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任务二：ReAct Agent + 20 领域工具 + 独立双档判官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2505075"/>
              <a:ext cx="95250" cy="952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5838" y="2478881"/>
              <a:ext cx="27964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可测场景通过率 ~80% · Settings 簇 84%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2838450"/>
              <a:ext cx="95250" cy="952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5838" y="2812256"/>
              <a:ext cx="36665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两层变异测试：Mutation Score 33% · Must-Kill 38%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3171825"/>
              <a:ext cx="95250" cy="952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5838" y="3145631"/>
              <a:ext cx="35390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双档判官量化宽松代价：lenient 46% vs strict 25%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2000" y="3505200"/>
              <a:ext cx="95250" cy="952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5838" y="3479006"/>
              <a:ext cx="36665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牛皮纸看板控制台：Vite+React+Hono SSE 实时可视化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86500" y="1238250"/>
            <a:ext cx="5334000" cy="2762250"/>
            <a:chOff x="6286500" y="1238250"/>
            <a:chExt cx="5334000" cy="276225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38250"/>
              <a:ext cx="5334000" cy="2762250"/>
            </a:xfrm>
            <a:prstGeom prst="roundRect">
              <a:avLst>
                <a:gd name="adj" fmla="val 2759"/>
              </a:avLst>
            </a:prstGeom>
            <a:solidFill>
              <a:srgbClr val="152238"/>
            </a:solidFill>
            <a:ln w="19050">
              <a:solidFill>
                <a:srgbClr val="F59E0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03670" y="139350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不足与展望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24625" y="1762125"/>
              <a:ext cx="4857750" cy="857250"/>
            </a:xfrm>
            <a:prstGeom prst="roundRect">
              <a:avLst>
                <a:gd name="adj" fmla="val 6667"/>
              </a:avLst>
            </a:prstGeom>
            <a:solidFill>
              <a:srgbClr val="0D1B2A"/>
            </a:solidFill>
            <a:ln w="9525">
              <a:solidFill>
                <a:srgbClr val="EF444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01790" y="18869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当前不足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02742" y="2133124"/>
              <a:ext cx="36782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• Instance 簇被 demo 站 demoMode 物理禁用 (已诚实文档化)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02742" y="2323624"/>
              <a:ext cx="4432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• Strict 判官 negate 类仍 0% (取反类漏检 · 待 prompt 调优/规则双通道)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02742" y="2485549"/>
              <a:ext cx="30801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• 富证据场景变异检出率低 (需要全通道失败才 FAIL)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24625" y="2762250"/>
              <a:ext cx="4857750" cy="1000125"/>
            </a:xfrm>
            <a:prstGeom prst="roundRect">
              <a:avLst>
                <a:gd name="adj" fmla="val 5714"/>
              </a:avLst>
            </a:prstGeom>
            <a:solidFill>
              <a:srgbClr val="0D1B2A"/>
            </a:solidFill>
            <a:ln w="9525">
              <a:solidFill>
                <a:srgbClr val="22C55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01790" y="28870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未来工作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2742" y="3133249"/>
              <a:ext cx="19555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• 规则启发式双通道补存在性核对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2742" y="3304699"/>
              <a:ext cx="36067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• 前置契约化：前置做成工具静态元数据 (ToolDef.requires)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2742" y="3476149"/>
              <a:ext cx="26510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• 前端实时 mutation / judge-cost 交互增强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02742" y="3628549"/>
              <a:ext cx="17279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• Strict 判官 negate 类加固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4191000"/>
            <a:ext cx="11049000" cy="1238250"/>
            <a:chOff x="571500" y="4191000"/>
            <a:chExt cx="11049000" cy="1238250"/>
          </a:xfrm>
        </p:grpSpPr>
        <p:sp>
          <p:nvSpPr>
            <p:cNvPr id="37" name="Rectangle 37"/>
            <p:cNvSpPr/>
            <p:nvPr/>
          </p:nvSpPr>
          <p:spPr>
            <a:xfrm>
              <a:off x="571500" y="4191000"/>
              <a:ext cx="11049000" cy="1238250"/>
            </a:xfrm>
            <a:prstGeom prst="roundRect">
              <a:avLst>
                <a:gd name="adj" fmla="val 6154"/>
              </a:avLst>
            </a:prstGeom>
            <a:solidFill>
              <a:srgbClr val="152238"/>
            </a:solidFill>
            <a:ln w="14288">
              <a:solidFill>
                <a:srgbClr val="3B82F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34935" y="4425315"/>
              <a:ext cx="33221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2E8F0"/>
                  </a:solidFill>
                  <a:latin typeface="Arial"/>
                  <a:ea typeface="Microsoft YaHei"/>
                  <a:cs typeface="Arial"/>
                </a:rPr>
                <a:t>从用户手册到全自动测试闭环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29999" y="4807268"/>
              <a:ext cx="57320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LLM + Playwright + 独立判官 + 变异测试 = 可量化评估的智能测试系统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02615" y="5164931"/>
              <a:ext cx="55867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4gaboard_agent (原型) → 4gaboard_agent_plus (完整交付)：从"能跑"到"能评"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4915236" y="5869305"/>
            <a:ext cx="23615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gradFill>
                  <a:gsLst>
                    <a:gs pos="0">
                      <a:srgbClr val="F59E0B"/>
                    </a:gs>
                    <a:gs pos="100000">
                      <a:srgbClr val="D97706"/>
                    </a:gs>
                  </a:gsLst>
                  <a:lin ang="2700000" scaled="1"/>
                </a:gradFill>
                <a:latin typeface="Arial"/>
                <a:ea typeface="Microsoft YaHei"/>
                <a:cs typeface="Arial"/>
              </a:rPr>
              <a:t>谢谢 · Thank You</a:t>
            </a:r>
          </a:p>
        </p:txBody>
      </p:sp>
      <p:sp>
        <p:nvSpPr>
          <p:cNvPr id="43" name="Line 43"/>
          <p:cNvSpPr/>
          <p:nvPr/>
        </p:nvSpPr>
        <p:spPr>
          <a:xfrm>
            <a:off x="571500" y="6381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E293B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61022" y="6483191"/>
            <a:ext cx="24797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4gaboard_agent_plus · 课程项目答辩 · 2026.06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2026-06-24T15:03:29Z</dcterms:created>
  <dcterms:modified xsi:type="dcterms:W3CDTF">2026-06-24T15:03:29Z</dcterms:modified>
  <cp:category/>
  <cp:contentStatus/>
</cp:coreProperties>
</file>